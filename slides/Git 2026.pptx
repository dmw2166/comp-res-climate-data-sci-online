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1162" r:id="rId2"/>
    <p:sldId id="1163" r:id="rId3"/>
    <p:sldId id="1164" r:id="rId4"/>
    <p:sldId id="1160" r:id="rId5"/>
    <p:sldId id="1161" r:id="rId6"/>
    <p:sldId id="1165" r:id="rId7"/>
    <p:sldId id="1166" r:id="rId8"/>
    <p:sldId id="1179" r:id="rId9"/>
    <p:sldId id="1169" r:id="rId10"/>
    <p:sldId id="1170" r:id="rId11"/>
    <p:sldId id="1171" r:id="rId12"/>
    <p:sldId id="1172" r:id="rId13"/>
    <p:sldId id="1173" r:id="rId14"/>
    <p:sldId id="1174" r:id="rId15"/>
    <p:sldId id="1175" r:id="rId16"/>
    <p:sldId id="1176" r:id="rId17"/>
    <p:sldId id="1177" r:id="rId18"/>
    <p:sldId id="1180" r:id="rId19"/>
    <p:sldId id="1178" r:id="rId20"/>
    <p:sldId id="1181" r:id="rId21"/>
    <p:sldId id="1168" r:id="rId22"/>
    <p:sldId id="1167" r:id="rId23"/>
    <p:sldId id="1182" r:id="rId24"/>
    <p:sldId id="11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0"/>
    <p:restoredTop sz="90629"/>
  </p:normalViewPr>
  <p:slideViewPr>
    <p:cSldViewPr snapToGrid="0" snapToObjects="1">
      <p:cViewPr varScale="1">
        <p:scale>
          <a:sx n="118" d="100"/>
          <a:sy n="118" d="100"/>
        </p:scale>
        <p:origin x="624" y="20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2E87B-7E66-854D-917D-8E1AC8A1FF55}" type="datetimeFigureOut">
              <a:rPr lang="en-US" smtClean="0"/>
              <a:t>12/29/25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07CE7D-8D58-3941-8E2D-16BA24A2676D}" type="slidenum">
              <a:rPr lang="en-US" smtClean="0"/>
              <a:t>‹#›</a:t>
            </a:fld>
            <a:endParaRPr lang="en-US"/>
          </a:p>
        </p:txBody>
      </p:sp>
    </p:spTree>
    <p:extLst>
      <p:ext uri="{BB962C8B-B14F-4D97-AF65-F5344CB8AC3E}">
        <p14:creationId xmlns:p14="http://schemas.microsoft.com/office/powerpoint/2010/main" val="1762181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2328"/>
                </a:solidFill>
                <a:effectLst/>
                <a:latin typeface="-apple-system"/>
              </a:rPr>
              <a:t>A pull request is a proposal to merge a set of changes from one branch into another. In a pull request, collaborators can review and discuss the proposed set of changes before they integrate the changes into the main codebase. Pull requests display the differences, or diffs, between the content in the source branch and the content in the target branch.</a:t>
            </a:r>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4</a:t>
            </a:fld>
            <a:endParaRPr lang="en-US"/>
          </a:p>
        </p:txBody>
      </p:sp>
    </p:spTree>
    <p:extLst>
      <p:ext uri="{BB962C8B-B14F-4D97-AF65-F5344CB8AC3E}">
        <p14:creationId xmlns:p14="http://schemas.microsoft.com/office/powerpoint/2010/main" val="2204005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0" i="0" dirty="0">
                <a:solidFill>
                  <a:srgbClr val="0A0A23"/>
                </a:solidFill>
                <a:effectLst/>
                <a:latin typeface="inherit"/>
              </a:rPr>
              <a:t>Badges: Continuous integration: passing means the code that has been tested passes</a:t>
            </a:r>
          </a:p>
          <a:p>
            <a:pPr algn="l" fontAlgn="base">
              <a:buFont typeface="Arial" panose="020B0604020202020204" pitchFamily="34" charset="0"/>
              <a:buChar char="•"/>
            </a:pPr>
            <a:r>
              <a:rPr lang="en-US" b="0" i="0" dirty="0" err="1">
                <a:solidFill>
                  <a:srgbClr val="0A0A23"/>
                </a:solidFill>
                <a:effectLst/>
                <a:latin typeface="inherit"/>
              </a:rPr>
              <a:t>Codecov</a:t>
            </a:r>
            <a:r>
              <a:rPr lang="en-US" b="0" i="0" dirty="0">
                <a:solidFill>
                  <a:srgbClr val="0A0A23"/>
                </a:solidFill>
                <a:effectLst/>
                <a:latin typeface="inherit"/>
              </a:rPr>
              <a:t>: percentage of code that has been tested. Less than 100% means there’s a chance for bugs in the untested code</a:t>
            </a:r>
          </a:p>
          <a:p>
            <a:pPr algn="l" fontAlgn="base">
              <a:buFont typeface="Arial" panose="020B0604020202020204" pitchFamily="34" charset="0"/>
              <a:buChar char="•"/>
            </a:pPr>
            <a:r>
              <a:rPr lang="en-US" b="0" i="0" dirty="0" err="1">
                <a:solidFill>
                  <a:srgbClr val="0A0A23"/>
                </a:solidFill>
                <a:effectLst/>
                <a:latin typeface="inherit"/>
              </a:rPr>
              <a:t>Bencharked</a:t>
            </a:r>
            <a:r>
              <a:rPr lang="en-US" b="0" i="0" dirty="0">
                <a:solidFill>
                  <a:srgbClr val="0A0A23"/>
                </a:solidFill>
                <a:effectLst/>
                <a:latin typeface="inherit"/>
              </a:rPr>
              <a:t> by airspeed velocity – tests how efficient the code is and how fast it should run</a:t>
            </a:r>
          </a:p>
          <a:p>
            <a:pPr algn="l" fontAlgn="base">
              <a:buFont typeface="Arial" panose="020B0604020202020204" pitchFamily="34" charset="0"/>
              <a:buChar char="•"/>
            </a:pPr>
            <a:r>
              <a:rPr lang="en-US" b="0" i="0" dirty="0">
                <a:solidFill>
                  <a:srgbClr val="0A0A23"/>
                </a:solidFill>
                <a:effectLst/>
                <a:latin typeface="inherit"/>
              </a:rPr>
              <a:t>Binder: turn your </a:t>
            </a:r>
            <a:r>
              <a:rPr lang="en-US" b="0" i="0" dirty="0" err="1">
                <a:solidFill>
                  <a:srgbClr val="0A0A23"/>
                </a:solidFill>
                <a:effectLst/>
                <a:latin typeface="inherit"/>
              </a:rPr>
              <a:t>github</a:t>
            </a:r>
            <a:r>
              <a:rPr lang="en-US" b="0" i="0" dirty="0">
                <a:solidFill>
                  <a:srgbClr val="0A0A23"/>
                </a:solidFill>
                <a:effectLst/>
                <a:latin typeface="inherit"/>
              </a:rPr>
              <a:t> repository into a bunch of </a:t>
            </a:r>
            <a:r>
              <a:rPr lang="en-US" b="0" i="0" dirty="0" err="1">
                <a:solidFill>
                  <a:srgbClr val="0A0A23"/>
                </a:solidFill>
                <a:effectLst/>
                <a:latin typeface="inherit"/>
              </a:rPr>
              <a:t>jupyter</a:t>
            </a:r>
            <a:r>
              <a:rPr lang="en-US" b="0" i="0" dirty="0">
                <a:solidFill>
                  <a:srgbClr val="0A0A23"/>
                </a:solidFill>
                <a:effectLst/>
                <a:latin typeface="inherit"/>
              </a:rPr>
              <a:t> notebooks</a:t>
            </a:r>
          </a:p>
          <a:p>
            <a:pPr algn="l" fontAlgn="base">
              <a:buFont typeface="Arial" panose="020B0604020202020204" pitchFamily="34" charset="0"/>
              <a:buChar char="•"/>
            </a:pPr>
            <a:endParaRPr lang="en-US" b="0" i="0" dirty="0">
              <a:solidFill>
                <a:srgbClr val="0A0A23"/>
              </a:solidFill>
              <a:effectLst/>
              <a:latin typeface="inherit"/>
            </a:endParaRPr>
          </a:p>
          <a:p>
            <a:pPr algn="l" fontAlgn="base">
              <a:buFont typeface="Arial" panose="020B0604020202020204" pitchFamily="34" charset="0"/>
              <a:buChar char="•"/>
            </a:pPr>
            <a:r>
              <a:rPr lang="en-US" b="0" i="0" dirty="0">
                <a:solidFill>
                  <a:srgbClr val="0A0A23"/>
                </a:solidFill>
                <a:effectLst/>
                <a:latin typeface="inherit"/>
              </a:rPr>
              <a:t>It is the first file a person will see when they encounter your project, so it should be fairly brief but detailed.</a:t>
            </a:r>
          </a:p>
          <a:p>
            <a:pPr algn="l" fontAlgn="base">
              <a:buFont typeface="Arial" panose="020B0604020202020204" pitchFamily="34" charset="0"/>
              <a:buChar char="•"/>
            </a:pPr>
            <a:r>
              <a:rPr lang="en-US" b="0" i="0" dirty="0">
                <a:solidFill>
                  <a:srgbClr val="0A0A23"/>
                </a:solidFill>
                <a:effectLst/>
                <a:latin typeface="inherit"/>
              </a:rPr>
              <a:t>It will make your project standout from a bunch of others. Also be sure your project is good too.</a:t>
            </a:r>
          </a:p>
          <a:p>
            <a:pPr algn="l" fontAlgn="base">
              <a:buFont typeface="Arial" panose="020B0604020202020204" pitchFamily="34" charset="0"/>
              <a:buChar char="•"/>
            </a:pPr>
            <a:r>
              <a:rPr lang="en-US" b="0" i="0" dirty="0">
                <a:solidFill>
                  <a:srgbClr val="0A0A23"/>
                </a:solidFill>
                <a:effectLst/>
                <a:latin typeface="inherit"/>
              </a:rPr>
              <a:t>It will help you focus on what your project needs to deliver and how.</a:t>
            </a:r>
          </a:p>
          <a:p>
            <a:pPr algn="l" fontAlgn="base">
              <a:buFont typeface="Arial" panose="020B0604020202020204" pitchFamily="34" charset="0"/>
              <a:buChar char="•"/>
            </a:pPr>
            <a:r>
              <a:rPr lang="en-US" b="0" i="0" dirty="0">
                <a:solidFill>
                  <a:srgbClr val="0A0A23"/>
                </a:solidFill>
                <a:effectLst/>
                <a:latin typeface="inherit"/>
              </a:rPr>
              <a:t>It will improve your writing skill</a:t>
            </a:r>
          </a:p>
          <a:p>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5</a:t>
            </a:fld>
            <a:endParaRPr lang="en-US"/>
          </a:p>
        </p:txBody>
      </p:sp>
    </p:spTree>
    <p:extLst>
      <p:ext uri="{BB962C8B-B14F-4D97-AF65-F5344CB8AC3E}">
        <p14:creationId xmlns:p14="http://schemas.microsoft.com/office/powerpoint/2010/main" val="101108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This command generates a new SSH key pair for secure authentication. Let me break down each part:</a:t>
            </a:r>
          </a:p>
          <a:p>
            <a:pPr>
              <a:buNone/>
            </a:pPr>
            <a:r>
              <a:rPr lang="en-US" b="1" dirty="0"/>
              <a:t>ssh-keygen</a:t>
            </a:r>
            <a:r>
              <a:rPr lang="en-US" dirty="0"/>
              <a:t> - The program that creates SSH key pairs (a public key and a private key)</a:t>
            </a:r>
          </a:p>
          <a:p>
            <a:pPr>
              <a:buNone/>
            </a:pPr>
            <a:r>
              <a:rPr lang="en-US" b="1" dirty="0"/>
              <a:t>-t </a:t>
            </a:r>
            <a:r>
              <a:rPr lang="en-US" b="1" dirty="0" err="1"/>
              <a:t>rsa</a:t>
            </a:r>
            <a:r>
              <a:rPr lang="en-US" dirty="0"/>
              <a:t> - Specifies the type of key to create. RSA is a widely-supported encryption algorithm (though Ed25519 is now often preferred for new keys) (cryptographic key based on the </a:t>
            </a:r>
            <a:r>
              <a:rPr lang="en-US" b="1" dirty="0"/>
              <a:t>RSA algorithm</a:t>
            </a:r>
            <a:r>
              <a:rPr lang="en-US" dirty="0"/>
              <a:t>, which is one of the most widely used methods for secure data transmission and authentication)</a:t>
            </a:r>
          </a:p>
          <a:p>
            <a:pPr>
              <a:buNone/>
            </a:pPr>
            <a:r>
              <a:rPr lang="en-US" b="1" dirty="0"/>
              <a:t>-b 4096</a:t>
            </a:r>
            <a:r>
              <a:rPr lang="en-US" dirty="0"/>
              <a:t> - Sets the key length to 4096 bits. This makes the key more secure than the default 2048 bits, though it's slightly slower</a:t>
            </a:r>
          </a:p>
          <a:p>
            <a:r>
              <a:rPr lang="en-US" b="1" dirty="0"/>
              <a:t>-C "dmw2166@Columbia.edu"</a:t>
            </a:r>
            <a:r>
              <a:rPr lang="en-US" dirty="0"/>
              <a:t> - Adds a comment/label to the key. This is typically your email address and helps you identify which key is which when you have multiple keys. It doesn't affect the key's function, just makes it easier to </a:t>
            </a:r>
            <a:r>
              <a:rPr lang="en-US" dirty="0" err="1"/>
              <a:t>manag</a:t>
            </a:r>
            <a:endParaRPr lang="en-US" dirty="0"/>
          </a:p>
          <a:p>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21</a:t>
            </a:fld>
            <a:endParaRPr lang="en-US"/>
          </a:p>
        </p:txBody>
      </p:sp>
    </p:spTree>
    <p:extLst>
      <p:ext uri="{BB962C8B-B14F-4D97-AF65-F5344CB8AC3E}">
        <p14:creationId xmlns:p14="http://schemas.microsoft.com/office/powerpoint/2010/main" val="3459771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remote set-</a:t>
            </a:r>
            <a:r>
              <a:rPr lang="en-US" dirty="0" err="1"/>
              <a:t>url</a:t>
            </a:r>
            <a:r>
              <a:rPr lang="en-US" dirty="0"/>
              <a:t> origin </a:t>
            </a:r>
            <a:r>
              <a:rPr lang="en-US" dirty="0" err="1"/>
              <a:t>git@github.com:username</a:t>
            </a:r>
            <a:r>
              <a:rPr lang="en-US" dirty="0"/>
              <a:t>/</a:t>
            </a:r>
            <a:r>
              <a:rPr lang="en-US" dirty="0" err="1"/>
              <a:t>repo.git</a:t>
            </a:r>
            <a:r>
              <a:rPr lang="en-US" dirty="0"/>
              <a:t> </a:t>
            </a:r>
            <a:br>
              <a:rPr lang="en-US" dirty="0"/>
            </a:br>
            <a:r>
              <a:rPr lang="en-US" dirty="0">
                <a:effectLst/>
                <a:latin typeface="inherit"/>
              </a:rPr>
              <a:t>ssh -T </a:t>
            </a:r>
            <a:r>
              <a:rPr lang="en-US" dirty="0" err="1">
                <a:effectLst/>
                <a:latin typeface="inherit"/>
              </a:rPr>
              <a:t>git@github.com</a:t>
            </a:r>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22</a:t>
            </a:fld>
            <a:endParaRPr lang="en-US"/>
          </a:p>
        </p:txBody>
      </p:sp>
    </p:spTree>
    <p:extLst>
      <p:ext uri="{BB962C8B-B14F-4D97-AF65-F5344CB8AC3E}">
        <p14:creationId xmlns:p14="http://schemas.microsoft.com/office/powerpoint/2010/main" val="59805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82645"/>
            <a:ext cx="10363200" cy="1470025"/>
          </a:xfrm>
        </p:spPr>
        <p:txBody>
          <a:bodyPr/>
          <a:lstStyle>
            <a:lvl1pPr>
              <a:defRPr>
                <a:latin typeface="Arial"/>
              </a:defRPr>
            </a:lvl1pPr>
          </a:lstStyle>
          <a:p>
            <a:r>
              <a:rPr lang="en-US" dirty="0"/>
              <a:t>Click to edit Master title style</a:t>
            </a:r>
          </a:p>
        </p:txBody>
      </p:sp>
      <p:sp>
        <p:nvSpPr>
          <p:cNvPr id="3" name="Subtitle 2"/>
          <p:cNvSpPr>
            <a:spLocks noGrp="1"/>
          </p:cNvSpPr>
          <p:nvPr>
            <p:ph type="subTitle" idx="1"/>
          </p:nvPr>
        </p:nvSpPr>
        <p:spPr>
          <a:xfrm>
            <a:off x="1828800" y="3276600"/>
            <a:ext cx="8534400" cy="1016000"/>
          </a:xfrm>
        </p:spPr>
        <p:txBody>
          <a:bodyPr/>
          <a:lstStyle>
            <a:lvl1pPr marL="0" indent="0" algn="ctr">
              <a:buNone/>
              <a:defRPr>
                <a:solidFill>
                  <a:schemeClr val="tx1"/>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D18B09B7-D637-3E44-87BE-84D13944F4B6}"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5693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0656"/>
            <a:ext cx="10972800" cy="741363"/>
          </a:xfrm>
        </p:spPr>
        <p:txBody>
          <a:bodyPr>
            <a:normAutofit/>
          </a:bodyPr>
          <a:lstStyle>
            <a:lvl1pPr>
              <a:defRPr sz="3600">
                <a:latin typeface="Arial"/>
              </a:defRPr>
            </a:lvl1pPr>
          </a:lstStyle>
          <a:p>
            <a:r>
              <a:rPr lang="en-US" dirty="0"/>
              <a:t>Click to edit Master title style</a:t>
            </a:r>
          </a:p>
        </p:txBody>
      </p:sp>
      <p:sp>
        <p:nvSpPr>
          <p:cNvPr id="3" name="Content Placeholder 2"/>
          <p:cNvSpPr>
            <a:spLocks noGrp="1"/>
          </p:cNvSpPr>
          <p:nvPr>
            <p:ph idx="1"/>
          </p:nvPr>
        </p:nvSpPr>
        <p:spPr>
          <a:xfrm>
            <a:off x="609600" y="1003306"/>
            <a:ext cx="10972800" cy="5122863"/>
          </a:xfrm>
        </p:spPr>
        <p:txBody>
          <a:bodyPr/>
          <a:lstStyle>
            <a:lvl1pPr>
              <a:defRPr sz="2800">
                <a:latin typeface="Arial"/>
              </a:defRPr>
            </a:lvl1pPr>
            <a:lvl2pPr>
              <a:defRPr sz="2400">
                <a:latin typeface="Arial"/>
              </a:defRPr>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160A564-CE73-9B49-971B-3B614A8DE614}"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cxnSp>
        <p:nvCxnSpPr>
          <p:cNvPr id="8" name="Straight Connector 7"/>
          <p:cNvCxnSpPr/>
          <p:nvPr userDrawn="1"/>
        </p:nvCxnSpPr>
        <p:spPr>
          <a:xfrm>
            <a:off x="609600" y="863600"/>
            <a:ext cx="10972800" cy="0"/>
          </a:xfrm>
          <a:prstGeom prst="line">
            <a:avLst/>
          </a:prstGeom>
          <a:ln w="38100" cmpd="sng">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2262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195A3-7D7B-C44F-9A68-BC3933C1DFFC}"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0655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B24E4F-B36C-F04A-BB09-40233A12DCEF}"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092370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2" y="1535117"/>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287C8E-CA0C-EA49-8BDE-30999D3BF187}"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41029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3298CF-6706-B444-8ED1-3766376B21E7}"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89056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1C2F39-C36E-9645-8F14-093C54288B6D}"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7328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68"/>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EEAE45-781C-314D-97DE-2F14F7785881}"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32016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19"/>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57"/>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9482D8-D24C-0E48-B41E-CEB9556E7A0F}"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3321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29768B-BDE3-9449-9A8D-95D399F44AE3}"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19874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5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5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D9C7B2-E383-8F48-B583-0DCA9DE09C84}"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8836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7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27A59-BACB-694C-AED5-7FE018C91885}"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4165600" y="635637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8737600" y="6356370"/>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C14F63FA-BE45-AC47-BCEE-A4BD7BF84FC1}"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4018477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ducation.github.com/git-cheat-sheet-education.pdf" TargetMode="External"/><Relationship Id="rId2" Type="http://schemas.openxmlformats.org/officeDocument/2006/relationships/hyperlink" Target="https://docs.github.com/en/get-started/using-git/about-git#about-version-control-and-git" TargetMode="External"/><Relationship Id="rId1" Type="http://schemas.openxmlformats.org/officeDocument/2006/relationships/slideLayout" Target="../slideLayouts/slideLayout2.xml"/><Relationship Id="rId5" Type="http://schemas.openxmlformats.org/officeDocument/2006/relationships/hyperlink" Target="https://swcarpentry.github.io/git-novice/" TargetMode="External"/><Relationship Id="rId4" Type="http://schemas.openxmlformats.org/officeDocument/2006/relationships/hyperlink" Target="https://training.github.com/downloads/github-git-cheat-shee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mailto:git@github.com:dmw2166/example2026.gi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mailto:dmw2166@Columbia.edu"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67C6F-E8B7-A641-81A8-A6784E5D63A4}"/>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BD86BAA-8E8D-D74E-A80D-8990A61B07BE}"/>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a:t>
            </a:fld>
            <a:endParaRPr lang="en-US">
              <a:solidFill>
                <a:prstClr val="black">
                  <a:tint val="75000"/>
                </a:prstClr>
              </a:solidFill>
              <a:latin typeface="Calibri"/>
            </a:endParaRPr>
          </a:p>
        </p:txBody>
      </p:sp>
      <p:pic>
        <p:nvPicPr>
          <p:cNvPr id="1026" name="Picture 2">
            <a:extLst>
              <a:ext uri="{FF2B5EF4-FFF2-40B4-BE49-F238E27FC236}">
                <a16:creationId xmlns:a16="http://schemas.microsoft.com/office/drawing/2014/main" id="{844FC868-62DE-FD49-BC65-D13702B17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7900" y="0"/>
            <a:ext cx="515461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807BA8-DD4D-8043-8765-F2A3C18D200D}"/>
              </a:ext>
            </a:extLst>
          </p:cNvPr>
          <p:cNvSpPr txBox="1"/>
          <p:nvPr/>
        </p:nvSpPr>
        <p:spPr>
          <a:xfrm>
            <a:off x="9860280" y="1343202"/>
            <a:ext cx="2331720" cy="1477328"/>
          </a:xfrm>
          <a:prstGeom prst="rect">
            <a:avLst/>
          </a:prstGeom>
          <a:noFill/>
        </p:spPr>
        <p:txBody>
          <a:bodyPr wrap="square" rtlCol="0">
            <a:spAutoFit/>
          </a:bodyPr>
          <a:lstStyle/>
          <a:p>
            <a:r>
              <a:rPr lang="en-US" dirty="0"/>
              <a:t>Presentation adapted from </a:t>
            </a:r>
            <a:r>
              <a:rPr lang="en-US" dirty="0" err="1"/>
              <a:t>github</a:t>
            </a:r>
            <a:r>
              <a:rPr lang="en-US" dirty="0"/>
              <a:t> user “javedali99” in a way that is consistent with their license</a:t>
            </a:r>
          </a:p>
        </p:txBody>
      </p:sp>
    </p:spTree>
    <p:extLst>
      <p:ext uri="{BB962C8B-B14F-4D97-AF65-F5344CB8AC3E}">
        <p14:creationId xmlns:p14="http://schemas.microsoft.com/office/powerpoint/2010/main" val="2363229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E5EF-FAF4-4947-B0A3-5BC68E1C704C}"/>
              </a:ext>
            </a:extLst>
          </p:cNvPr>
          <p:cNvSpPr>
            <a:spLocks noGrp="1"/>
          </p:cNvSpPr>
          <p:nvPr>
            <p:ph type="title"/>
          </p:nvPr>
        </p:nvSpPr>
        <p:spPr/>
        <p:txBody>
          <a:bodyPr/>
          <a:lstStyle/>
          <a:p>
            <a:r>
              <a:rPr lang="en-US" dirty="0"/>
              <a:t>Git and </a:t>
            </a:r>
            <a:r>
              <a:rPr lang="en-US" dirty="0" err="1"/>
              <a:t>github</a:t>
            </a:r>
            <a:endParaRPr lang="en-US" dirty="0"/>
          </a:p>
        </p:txBody>
      </p:sp>
      <p:sp>
        <p:nvSpPr>
          <p:cNvPr id="3" name="Content Placeholder 2">
            <a:extLst>
              <a:ext uri="{FF2B5EF4-FFF2-40B4-BE49-F238E27FC236}">
                <a16:creationId xmlns:a16="http://schemas.microsoft.com/office/drawing/2014/main" id="{93D53493-DEBE-8946-B59A-99CBE0976AB7}"/>
              </a:ext>
            </a:extLst>
          </p:cNvPr>
          <p:cNvSpPr>
            <a:spLocks noGrp="1"/>
          </p:cNvSpPr>
          <p:nvPr>
            <p:ph idx="1"/>
          </p:nvPr>
        </p:nvSpPr>
        <p:spPr>
          <a:xfrm>
            <a:off x="609600" y="1003306"/>
            <a:ext cx="6278880" cy="5834038"/>
          </a:xfrm>
        </p:spPr>
        <p:txBody>
          <a:bodyPr/>
          <a:lstStyle/>
          <a:p>
            <a:r>
              <a:rPr lang="en-US" dirty="0"/>
              <a:t>Git</a:t>
            </a:r>
          </a:p>
          <a:p>
            <a:pPr lvl="1"/>
            <a:r>
              <a:rPr lang="en-US" dirty="0"/>
              <a:t>The software that allows us to do version control </a:t>
            </a:r>
          </a:p>
          <a:p>
            <a:pPr lvl="1"/>
            <a:r>
              <a:rPr lang="en-US" dirty="0"/>
              <a:t>Distributed Version Control System (DVCS)</a:t>
            </a:r>
          </a:p>
          <a:p>
            <a:pPr lvl="1"/>
            <a:r>
              <a:rPr lang="en-US" dirty="0"/>
              <a:t>Like “Track Changes” in docs but more rigorous, powerful, and scaled up to multiple files</a:t>
            </a:r>
          </a:p>
          <a:p>
            <a:r>
              <a:rPr lang="en-US" dirty="0" err="1"/>
              <a:t>Github</a:t>
            </a:r>
            <a:endParaRPr lang="en-US" dirty="0"/>
          </a:p>
          <a:p>
            <a:pPr lvl="1"/>
            <a:r>
              <a:rPr lang="en-US" dirty="0"/>
              <a:t>Hosting service for git projects (i.e. Dropbox for git) </a:t>
            </a:r>
          </a:p>
          <a:p>
            <a:pPr lvl="1"/>
            <a:r>
              <a:rPr lang="en-US" dirty="0"/>
              <a:t>Hosts remote repositories. You edit your work in your local repository and then send changes to the remote</a:t>
            </a:r>
          </a:p>
          <a:p>
            <a:pPr lvl="1"/>
            <a:endParaRPr lang="en-US" dirty="0"/>
          </a:p>
        </p:txBody>
      </p:sp>
      <p:sp>
        <p:nvSpPr>
          <p:cNvPr id="4" name="Slide Number Placeholder 3">
            <a:extLst>
              <a:ext uri="{FF2B5EF4-FFF2-40B4-BE49-F238E27FC236}">
                <a16:creationId xmlns:a16="http://schemas.microsoft.com/office/drawing/2014/main" id="{9F3C45A5-EF26-DB47-AF25-0355D5673309}"/>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88E37D8F-2512-2644-AE79-7ED75A0B6026}"/>
              </a:ext>
            </a:extLst>
          </p:cNvPr>
          <p:cNvPicPr>
            <a:picLocks noChangeAspect="1"/>
          </p:cNvPicPr>
          <p:nvPr/>
        </p:nvPicPr>
        <p:blipFill>
          <a:blip r:embed="rId2"/>
          <a:stretch>
            <a:fillRect/>
          </a:stretch>
        </p:blipFill>
        <p:spPr>
          <a:xfrm>
            <a:off x="6786880" y="1003306"/>
            <a:ext cx="5334000" cy="3365500"/>
          </a:xfrm>
          <a:prstGeom prst="rect">
            <a:avLst/>
          </a:prstGeom>
        </p:spPr>
      </p:pic>
    </p:spTree>
    <p:extLst>
      <p:ext uri="{BB962C8B-B14F-4D97-AF65-F5344CB8AC3E}">
        <p14:creationId xmlns:p14="http://schemas.microsoft.com/office/powerpoint/2010/main" val="1146901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D4C1-1A05-8C41-B6AB-A5694CDA529F}"/>
              </a:ext>
            </a:extLst>
          </p:cNvPr>
          <p:cNvSpPr>
            <a:spLocks noGrp="1"/>
          </p:cNvSpPr>
          <p:nvPr>
            <p:ph type="title"/>
          </p:nvPr>
        </p:nvSpPr>
        <p:spPr/>
        <p:txBody>
          <a:bodyPr/>
          <a:lstStyle/>
          <a:p>
            <a:r>
              <a:rPr lang="en-US" dirty="0"/>
              <a:t>Why use git(hub)? </a:t>
            </a:r>
          </a:p>
        </p:txBody>
      </p:sp>
      <p:sp>
        <p:nvSpPr>
          <p:cNvPr id="3" name="Content Placeholder 2">
            <a:extLst>
              <a:ext uri="{FF2B5EF4-FFF2-40B4-BE49-F238E27FC236}">
                <a16:creationId xmlns:a16="http://schemas.microsoft.com/office/drawing/2014/main" id="{F222D33A-A167-3D49-BDE3-5248FC461B2E}"/>
              </a:ext>
            </a:extLst>
          </p:cNvPr>
          <p:cNvSpPr>
            <a:spLocks noGrp="1"/>
          </p:cNvSpPr>
          <p:nvPr>
            <p:ph idx="1"/>
          </p:nvPr>
        </p:nvSpPr>
        <p:spPr/>
        <p:txBody>
          <a:bodyPr/>
          <a:lstStyle/>
          <a:p>
            <a:r>
              <a:rPr lang="en-US" dirty="0"/>
              <a:t>Keeps your code more organized and documented for your own sanity and the sanity of your collaborators </a:t>
            </a:r>
          </a:p>
          <a:p>
            <a:r>
              <a:rPr lang="en-US" dirty="0"/>
              <a:t>Ensures work is reproducible</a:t>
            </a:r>
          </a:p>
          <a:p>
            <a:r>
              <a:rPr lang="en-US" dirty="0"/>
              <a:t>Imposes a certain discipline to your coding</a:t>
            </a:r>
          </a:p>
          <a:p>
            <a:r>
              <a:rPr lang="en-US" dirty="0"/>
              <a:t>Allows for taking risks when coding: if a new feature breaks your program, you can easily revert to a previous version that worked</a:t>
            </a:r>
          </a:p>
          <a:p>
            <a:r>
              <a:rPr lang="en-US" dirty="0"/>
              <a:t>Keeps multiple versions of everything</a:t>
            </a:r>
          </a:p>
        </p:txBody>
      </p:sp>
      <p:sp>
        <p:nvSpPr>
          <p:cNvPr id="4" name="Slide Number Placeholder 3">
            <a:extLst>
              <a:ext uri="{FF2B5EF4-FFF2-40B4-BE49-F238E27FC236}">
                <a16:creationId xmlns:a16="http://schemas.microsoft.com/office/drawing/2014/main" id="{F7DE137D-AD35-4646-A0DA-E55F8F0AB373}"/>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3</a:t>
            </a:fld>
            <a:endParaRPr lang="en-US">
              <a:solidFill>
                <a:prstClr val="black">
                  <a:tint val="75000"/>
                </a:prstClr>
              </a:solidFill>
              <a:latin typeface="Calibri"/>
            </a:endParaRPr>
          </a:p>
        </p:txBody>
      </p:sp>
    </p:spTree>
    <p:extLst>
      <p:ext uri="{BB962C8B-B14F-4D97-AF65-F5344CB8AC3E}">
        <p14:creationId xmlns:p14="http://schemas.microsoft.com/office/powerpoint/2010/main" val="1222363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00CE-2E00-2143-B7B4-7A7D6B56A002}"/>
              </a:ext>
            </a:extLst>
          </p:cNvPr>
          <p:cNvSpPr>
            <a:spLocks noGrp="1"/>
          </p:cNvSpPr>
          <p:nvPr>
            <p:ph type="title"/>
          </p:nvPr>
        </p:nvSpPr>
        <p:spPr/>
        <p:txBody>
          <a:bodyPr/>
          <a:lstStyle/>
          <a:p>
            <a:r>
              <a:rPr lang="en-US" dirty="0" err="1"/>
              <a:t>Github</a:t>
            </a:r>
            <a:r>
              <a:rPr lang="en-US" dirty="0"/>
              <a:t> provides a platform for open source</a:t>
            </a:r>
          </a:p>
        </p:txBody>
      </p:sp>
      <p:sp>
        <p:nvSpPr>
          <p:cNvPr id="3" name="Content Placeholder 2">
            <a:extLst>
              <a:ext uri="{FF2B5EF4-FFF2-40B4-BE49-F238E27FC236}">
                <a16:creationId xmlns:a16="http://schemas.microsoft.com/office/drawing/2014/main" id="{F99A2EA2-AB56-2E44-B730-3641AAE2E4F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AA27494-875C-614F-9083-C3070D8576F3}"/>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4</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0F0A78A8-D597-764A-8C2C-3B27D19806C5}"/>
              </a:ext>
            </a:extLst>
          </p:cNvPr>
          <p:cNvPicPr>
            <a:picLocks noChangeAspect="1"/>
          </p:cNvPicPr>
          <p:nvPr/>
        </p:nvPicPr>
        <p:blipFill>
          <a:blip r:embed="rId3"/>
          <a:stretch>
            <a:fillRect/>
          </a:stretch>
        </p:blipFill>
        <p:spPr>
          <a:xfrm>
            <a:off x="227098" y="1003305"/>
            <a:ext cx="11146643" cy="5122863"/>
          </a:xfrm>
          <a:prstGeom prst="rect">
            <a:avLst/>
          </a:prstGeom>
        </p:spPr>
      </p:pic>
    </p:spTree>
    <p:extLst>
      <p:ext uri="{BB962C8B-B14F-4D97-AF65-F5344CB8AC3E}">
        <p14:creationId xmlns:p14="http://schemas.microsoft.com/office/powerpoint/2010/main" val="194828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373D-0210-7643-ACCA-836EC4E9D234}"/>
              </a:ext>
            </a:extLst>
          </p:cNvPr>
          <p:cNvSpPr>
            <a:spLocks noGrp="1"/>
          </p:cNvSpPr>
          <p:nvPr>
            <p:ph type="title"/>
          </p:nvPr>
        </p:nvSpPr>
        <p:spPr/>
        <p:txBody>
          <a:bodyPr/>
          <a:lstStyle/>
          <a:p>
            <a:r>
              <a:rPr lang="en-US" dirty="0" err="1"/>
              <a:t>Github</a:t>
            </a:r>
            <a:r>
              <a:rPr lang="en-US" dirty="0"/>
              <a:t> readme</a:t>
            </a:r>
          </a:p>
        </p:txBody>
      </p:sp>
      <p:sp>
        <p:nvSpPr>
          <p:cNvPr id="3" name="Content Placeholder 2">
            <a:extLst>
              <a:ext uri="{FF2B5EF4-FFF2-40B4-BE49-F238E27FC236}">
                <a16:creationId xmlns:a16="http://schemas.microsoft.com/office/drawing/2014/main" id="{35DDFE46-D404-FB49-8923-E4345CAF4A9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41ECFAF-40E9-2348-9339-863975476657}"/>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5</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A1FAA153-3CE7-994E-B753-076AA912B2E6}"/>
              </a:ext>
            </a:extLst>
          </p:cNvPr>
          <p:cNvPicPr>
            <a:picLocks noChangeAspect="1"/>
          </p:cNvPicPr>
          <p:nvPr/>
        </p:nvPicPr>
        <p:blipFill>
          <a:blip r:embed="rId3"/>
          <a:stretch>
            <a:fillRect/>
          </a:stretch>
        </p:blipFill>
        <p:spPr>
          <a:xfrm>
            <a:off x="1640377" y="917202"/>
            <a:ext cx="8251767" cy="5920142"/>
          </a:xfrm>
          <a:prstGeom prst="rect">
            <a:avLst/>
          </a:prstGeom>
        </p:spPr>
      </p:pic>
    </p:spTree>
    <p:extLst>
      <p:ext uri="{BB962C8B-B14F-4D97-AF65-F5344CB8AC3E}">
        <p14:creationId xmlns:p14="http://schemas.microsoft.com/office/powerpoint/2010/main" val="208508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E9EDE-634B-3445-A302-C1EB46F446BA}"/>
              </a:ext>
            </a:extLst>
          </p:cNvPr>
          <p:cNvSpPr>
            <a:spLocks noGrp="1"/>
          </p:cNvSpPr>
          <p:nvPr>
            <p:ph type="title"/>
          </p:nvPr>
        </p:nvSpPr>
        <p:spPr/>
        <p:txBody>
          <a:bodyPr/>
          <a:lstStyle/>
          <a:p>
            <a:r>
              <a:rPr lang="en-US" dirty="0"/>
              <a:t>Setting up git environment</a:t>
            </a:r>
          </a:p>
        </p:txBody>
      </p:sp>
      <p:sp>
        <p:nvSpPr>
          <p:cNvPr id="3" name="Content Placeholder 2">
            <a:extLst>
              <a:ext uri="{FF2B5EF4-FFF2-40B4-BE49-F238E27FC236}">
                <a16:creationId xmlns:a16="http://schemas.microsoft.com/office/drawing/2014/main" id="{31B40565-3FA9-D442-8CB6-651602EFFAAF}"/>
              </a:ext>
            </a:extLst>
          </p:cNvPr>
          <p:cNvSpPr>
            <a:spLocks noGrp="1"/>
          </p:cNvSpPr>
          <p:nvPr>
            <p:ph idx="1"/>
          </p:nvPr>
        </p:nvSpPr>
        <p:spPr/>
        <p:txBody>
          <a:bodyPr/>
          <a:lstStyle/>
          <a:p>
            <a:pPr algn="l"/>
            <a:r>
              <a:rPr lang="en-US" b="0" i="0" dirty="0">
                <a:solidFill>
                  <a:srgbClr val="333333"/>
                </a:solidFill>
                <a:effectLst/>
                <a:latin typeface="Source Code Pro" panose="020F0502020204030204" pitchFamily="34" charset="0"/>
              </a:rPr>
              <a:t>git config --global </a:t>
            </a:r>
            <a:r>
              <a:rPr lang="en-US" b="0" i="0" dirty="0" err="1">
                <a:solidFill>
                  <a:srgbClr val="333333"/>
                </a:solidFill>
                <a:effectLst/>
                <a:latin typeface="Source Code Pro" panose="020F0502020204030204" pitchFamily="34" charset="0"/>
              </a:rPr>
              <a:t>user.name</a:t>
            </a:r>
            <a:r>
              <a:rPr lang="en-US" b="0" i="0" dirty="0">
                <a:solidFill>
                  <a:srgbClr val="333333"/>
                </a:solidFill>
                <a:effectLst/>
                <a:latin typeface="Source Code Pro" panose="020F0502020204030204" pitchFamily="34" charset="0"/>
              </a:rPr>
              <a:t> </a:t>
            </a:r>
            <a:r>
              <a:rPr lang="en-US" b="0" i="0" dirty="0">
                <a:solidFill>
                  <a:srgbClr val="DD1144"/>
                </a:solidFill>
                <a:effectLst/>
                <a:latin typeface="Source Code Pro" panose="020F0502020204030204" pitchFamily="34" charset="0"/>
              </a:rPr>
              <a:t>”dmw2166"</a:t>
            </a:r>
            <a:endParaRPr lang="en-US" b="0" i="0" dirty="0">
              <a:solidFill>
                <a:srgbClr val="333333"/>
              </a:solidFill>
              <a:effectLst/>
              <a:latin typeface="Source Code Pro" panose="020F0502020204030204" pitchFamily="34" charset="0"/>
            </a:endParaRPr>
          </a:p>
          <a:p>
            <a:pPr algn="l"/>
            <a:r>
              <a:rPr lang="en-US" b="0" i="0" dirty="0">
                <a:solidFill>
                  <a:srgbClr val="333333"/>
                </a:solidFill>
                <a:effectLst/>
                <a:latin typeface="Source Code Pro" panose="020F0502020204030204" pitchFamily="34" charset="0"/>
              </a:rPr>
              <a:t>git config --global </a:t>
            </a:r>
            <a:r>
              <a:rPr lang="en-US" b="0" i="0" dirty="0" err="1">
                <a:solidFill>
                  <a:srgbClr val="333333"/>
                </a:solidFill>
                <a:effectLst/>
                <a:latin typeface="Source Code Pro" panose="020F0502020204030204" pitchFamily="34" charset="0"/>
              </a:rPr>
              <a:t>user.email</a:t>
            </a:r>
            <a:r>
              <a:rPr lang="en-US" b="0" i="0" dirty="0">
                <a:solidFill>
                  <a:srgbClr val="333333"/>
                </a:solidFill>
                <a:effectLst/>
                <a:latin typeface="Source Code Pro" panose="020F0502020204030204" pitchFamily="34" charset="0"/>
              </a:rPr>
              <a:t> </a:t>
            </a:r>
            <a:r>
              <a:rPr lang="en-US" b="0" i="0" dirty="0">
                <a:solidFill>
                  <a:srgbClr val="DD1144"/>
                </a:solidFill>
                <a:effectLst/>
                <a:latin typeface="Source Code Pro" panose="020F0502020204030204" pitchFamily="34" charset="0"/>
              </a:rPr>
              <a:t>”dmw2166@Columbia.edu"</a:t>
            </a:r>
          </a:p>
          <a:p>
            <a:pPr algn="l"/>
            <a:endParaRPr lang="en-US" b="0" i="0" dirty="0">
              <a:solidFill>
                <a:srgbClr val="333333"/>
              </a:solidFill>
              <a:effectLst/>
              <a:latin typeface="Source Code Pro" panose="020F0502020204030204" pitchFamily="34" charset="0"/>
            </a:endParaRPr>
          </a:p>
          <a:p>
            <a:pPr lvl="1"/>
            <a:r>
              <a:rPr lang="en-US" dirty="0">
                <a:solidFill>
                  <a:srgbClr val="333333"/>
                </a:solidFill>
                <a:latin typeface="Arial" panose="020B0604020202020204" pitchFamily="34" charset="0"/>
                <a:cs typeface="Arial" panose="020B0604020202020204" pitchFamily="34" charset="0"/>
              </a:rPr>
              <a:t>Use the same email as the one you signed up for on </a:t>
            </a:r>
            <a:r>
              <a:rPr lang="en-US" dirty="0" err="1">
                <a:solidFill>
                  <a:srgbClr val="333333"/>
                </a:solidFill>
                <a:latin typeface="Arial" panose="020B0604020202020204" pitchFamily="34" charset="0"/>
                <a:cs typeface="Arial" panose="020B0604020202020204" pitchFamily="34" charset="0"/>
              </a:rPr>
              <a:t>github</a:t>
            </a:r>
            <a:endParaRPr lang="en-US" dirty="0">
              <a:solidFill>
                <a:srgbClr val="333333"/>
              </a:solidFill>
              <a:latin typeface="Arial" panose="020B0604020202020204" pitchFamily="34" charset="0"/>
              <a:cs typeface="Arial" panose="020B0604020202020204" pitchFamily="34" charset="0"/>
            </a:endParaRPr>
          </a:p>
          <a:p>
            <a:pPr lvl="1"/>
            <a:r>
              <a:rPr lang="en-US" b="0" i="0" dirty="0">
                <a:solidFill>
                  <a:srgbClr val="333333"/>
                </a:solidFill>
                <a:effectLst/>
                <a:latin typeface="Arial" panose="020B0604020202020204" pitchFamily="34" charset="0"/>
                <a:cs typeface="Arial" panose="020B0604020202020204" pitchFamily="34" charset="0"/>
              </a:rPr>
              <a:t>Only need to do this step on</a:t>
            </a:r>
            <a:r>
              <a:rPr lang="en-US" dirty="0">
                <a:solidFill>
                  <a:srgbClr val="333333"/>
                </a:solidFill>
                <a:latin typeface="Arial" panose="020B0604020202020204" pitchFamily="34" charset="0"/>
                <a:cs typeface="Arial" panose="020B0604020202020204" pitchFamily="34" charset="0"/>
              </a:rPr>
              <a:t>ce</a:t>
            </a:r>
          </a:p>
          <a:p>
            <a:pPr lvl="1"/>
            <a:r>
              <a:rPr lang="en-US" b="0" i="0" dirty="0">
                <a:solidFill>
                  <a:srgbClr val="333333"/>
                </a:solidFill>
                <a:effectLst/>
                <a:latin typeface="Arial" panose="020B0604020202020204" pitchFamily="34" charset="0"/>
                <a:cs typeface="Arial" panose="020B0604020202020204" pitchFamily="34" charset="0"/>
              </a:rPr>
              <a:t>This will be how any changes that you make are marked</a:t>
            </a:r>
          </a:p>
          <a:p>
            <a:pPr marL="0" indent="0">
              <a:buNone/>
            </a:pPr>
            <a:endParaRPr lang="en-US" dirty="0"/>
          </a:p>
        </p:txBody>
      </p:sp>
      <p:sp>
        <p:nvSpPr>
          <p:cNvPr id="4" name="Slide Number Placeholder 3">
            <a:extLst>
              <a:ext uri="{FF2B5EF4-FFF2-40B4-BE49-F238E27FC236}">
                <a16:creationId xmlns:a16="http://schemas.microsoft.com/office/drawing/2014/main" id="{42F80F78-3008-D447-931B-D78DE363333A}"/>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6</a:t>
            </a:fld>
            <a:endParaRPr lang="en-US">
              <a:solidFill>
                <a:prstClr val="black">
                  <a:tint val="75000"/>
                </a:prstClr>
              </a:solidFill>
              <a:latin typeface="Calibri"/>
            </a:endParaRPr>
          </a:p>
        </p:txBody>
      </p:sp>
    </p:spTree>
    <p:extLst>
      <p:ext uri="{BB962C8B-B14F-4D97-AF65-F5344CB8AC3E}">
        <p14:creationId xmlns:p14="http://schemas.microsoft.com/office/powerpoint/2010/main" val="239570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1D00-6574-5B43-8C4E-F3B02A0F9CF4}"/>
              </a:ext>
            </a:extLst>
          </p:cNvPr>
          <p:cNvSpPr>
            <a:spLocks noGrp="1"/>
          </p:cNvSpPr>
          <p:nvPr>
            <p:ph type="title"/>
          </p:nvPr>
        </p:nvSpPr>
        <p:spPr/>
        <p:txBody>
          <a:bodyPr/>
          <a:lstStyle/>
          <a:p>
            <a:r>
              <a:rPr lang="en-US" dirty="0"/>
              <a:t>Basic git workflow</a:t>
            </a:r>
          </a:p>
        </p:txBody>
      </p:sp>
      <p:sp>
        <p:nvSpPr>
          <p:cNvPr id="3" name="Content Placeholder 2">
            <a:extLst>
              <a:ext uri="{FF2B5EF4-FFF2-40B4-BE49-F238E27FC236}">
                <a16:creationId xmlns:a16="http://schemas.microsoft.com/office/drawing/2014/main" id="{1DACBE2E-2BA3-CE48-8621-6BE925A64424}"/>
              </a:ext>
            </a:extLst>
          </p:cNvPr>
          <p:cNvSpPr>
            <a:spLocks noGrp="1"/>
          </p:cNvSpPr>
          <p:nvPr>
            <p:ph idx="1"/>
          </p:nvPr>
        </p:nvSpPr>
        <p:spPr>
          <a:xfrm>
            <a:off x="609600" y="5334000"/>
            <a:ext cx="10972800" cy="1387495"/>
          </a:xfrm>
        </p:spPr>
        <p:txBody>
          <a:bodyPr>
            <a:normAutofit fontScale="55000" lnSpcReduction="20000"/>
          </a:bodyPr>
          <a:lstStyle/>
          <a:p>
            <a:r>
              <a:rPr lang="en-US" dirty="0"/>
              <a:t>Clone an existing repository or create your own. Recommended to create a blank one on </a:t>
            </a:r>
            <a:r>
              <a:rPr lang="en-US" dirty="0" err="1"/>
              <a:t>Github.com</a:t>
            </a:r>
            <a:r>
              <a:rPr lang="en-US" dirty="0"/>
              <a:t> and then clone it.</a:t>
            </a:r>
          </a:p>
          <a:p>
            <a:r>
              <a:rPr lang="en-US" dirty="0"/>
              <a:t>git </a:t>
            </a:r>
            <a:r>
              <a:rPr lang="en-US" dirty="0" err="1"/>
              <a:t>init</a:t>
            </a:r>
            <a:r>
              <a:rPr lang="en-US" dirty="0"/>
              <a:t> creates a repository of your current directory. </a:t>
            </a:r>
          </a:p>
          <a:p>
            <a:r>
              <a:rPr lang="en-US" dirty="0"/>
              <a:t>Make file changes locally</a:t>
            </a:r>
          </a:p>
          <a:p>
            <a:r>
              <a:rPr lang="en-US" dirty="0"/>
              <a:t>When ready, add the files to the staging area, then commit them to the repository (local). Include an informative message such as “plot distribution of precipitation” to whatever changes you make</a:t>
            </a:r>
          </a:p>
          <a:p>
            <a:r>
              <a:rPr lang="en-US" dirty="0"/>
              <a:t>When ready, push the commit to the remote (</a:t>
            </a:r>
            <a:r>
              <a:rPr lang="en-US" dirty="0" err="1"/>
              <a:t>github.com</a:t>
            </a:r>
            <a:r>
              <a:rPr lang="en-US" dirty="0"/>
              <a:t>) repository </a:t>
            </a:r>
          </a:p>
        </p:txBody>
      </p:sp>
      <p:sp>
        <p:nvSpPr>
          <p:cNvPr id="4" name="Slide Number Placeholder 3">
            <a:extLst>
              <a:ext uri="{FF2B5EF4-FFF2-40B4-BE49-F238E27FC236}">
                <a16:creationId xmlns:a16="http://schemas.microsoft.com/office/drawing/2014/main" id="{D7080960-CA80-E544-819C-B53621F95288}"/>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7</a:t>
            </a:fld>
            <a:endParaRPr lang="en-US">
              <a:solidFill>
                <a:prstClr val="black">
                  <a:tint val="75000"/>
                </a:prstClr>
              </a:solidFill>
              <a:latin typeface="Calibri"/>
            </a:endParaRPr>
          </a:p>
        </p:txBody>
      </p:sp>
      <p:pic>
        <p:nvPicPr>
          <p:cNvPr id="6" name="Picture 5">
            <a:extLst>
              <a:ext uri="{FF2B5EF4-FFF2-40B4-BE49-F238E27FC236}">
                <a16:creationId xmlns:a16="http://schemas.microsoft.com/office/drawing/2014/main" id="{B975B39B-7A41-0749-9DC5-34153A8C6F9D}"/>
              </a:ext>
            </a:extLst>
          </p:cNvPr>
          <p:cNvPicPr>
            <a:picLocks noChangeAspect="1"/>
          </p:cNvPicPr>
          <p:nvPr/>
        </p:nvPicPr>
        <p:blipFill>
          <a:blip r:embed="rId2"/>
          <a:stretch>
            <a:fillRect/>
          </a:stretch>
        </p:blipFill>
        <p:spPr>
          <a:xfrm>
            <a:off x="405130" y="901700"/>
            <a:ext cx="9332330" cy="4432300"/>
          </a:xfrm>
          <a:prstGeom prst="rect">
            <a:avLst/>
          </a:prstGeom>
        </p:spPr>
      </p:pic>
      <p:sp>
        <p:nvSpPr>
          <p:cNvPr id="5" name="TextBox 4">
            <a:extLst>
              <a:ext uri="{FF2B5EF4-FFF2-40B4-BE49-F238E27FC236}">
                <a16:creationId xmlns:a16="http://schemas.microsoft.com/office/drawing/2014/main" id="{824340E1-E78E-6745-B633-E202AB764550}"/>
              </a:ext>
            </a:extLst>
          </p:cNvPr>
          <p:cNvSpPr txBox="1"/>
          <p:nvPr/>
        </p:nvSpPr>
        <p:spPr>
          <a:xfrm>
            <a:off x="8168640" y="1058058"/>
            <a:ext cx="2103120" cy="369332"/>
          </a:xfrm>
          <a:prstGeom prst="rect">
            <a:avLst/>
          </a:prstGeom>
          <a:noFill/>
        </p:spPr>
        <p:txBody>
          <a:bodyPr wrap="square" rtlCol="0">
            <a:spAutoFit/>
          </a:bodyPr>
          <a:lstStyle/>
          <a:p>
            <a:r>
              <a:rPr lang="en-US" dirty="0"/>
              <a:t>Local machine</a:t>
            </a:r>
          </a:p>
        </p:txBody>
      </p:sp>
    </p:spTree>
    <p:extLst>
      <p:ext uri="{BB962C8B-B14F-4D97-AF65-F5344CB8AC3E}">
        <p14:creationId xmlns:p14="http://schemas.microsoft.com/office/powerpoint/2010/main" val="356909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AEAB-260E-3FAD-F3DA-6195AA195CB1}"/>
              </a:ext>
            </a:extLst>
          </p:cNvPr>
          <p:cNvSpPr>
            <a:spLocks noGrp="1"/>
          </p:cNvSpPr>
          <p:nvPr>
            <p:ph type="title"/>
          </p:nvPr>
        </p:nvSpPr>
        <p:spPr/>
        <p:txBody>
          <a:bodyPr/>
          <a:lstStyle/>
          <a:p>
            <a:r>
              <a:rPr lang="en-US" dirty="0"/>
              <a:t>Basic git commands (from the docs)</a:t>
            </a:r>
          </a:p>
        </p:txBody>
      </p:sp>
      <p:sp>
        <p:nvSpPr>
          <p:cNvPr id="3" name="Content Placeholder 2">
            <a:extLst>
              <a:ext uri="{FF2B5EF4-FFF2-40B4-BE49-F238E27FC236}">
                <a16:creationId xmlns:a16="http://schemas.microsoft.com/office/drawing/2014/main" id="{F994A965-73F6-8F3D-84FA-32073478EF89}"/>
              </a:ext>
            </a:extLst>
          </p:cNvPr>
          <p:cNvSpPr>
            <a:spLocks noGrp="1"/>
          </p:cNvSpPr>
          <p:nvPr>
            <p:ph idx="1"/>
          </p:nvPr>
        </p:nvSpPr>
        <p:spPr>
          <a:xfrm>
            <a:off x="609600" y="1003306"/>
            <a:ext cx="10972800" cy="5718189"/>
          </a:xfrm>
        </p:spPr>
        <p:txBody>
          <a:bodyPr>
            <a:noAutofit/>
          </a:bodyPr>
          <a:lstStyle/>
          <a:p>
            <a:pPr algn="l">
              <a:spcBef>
                <a:spcPts val="0"/>
              </a:spcBef>
              <a:buFont typeface="Arial" panose="020B0604020202020204" pitchFamily="34" charset="0"/>
              <a:buChar char="•"/>
            </a:pPr>
            <a:r>
              <a:rPr lang="en-US" sz="2000" b="1" i="0" u="sng" dirty="0">
                <a:solidFill>
                  <a:srgbClr val="1F2328"/>
                </a:solidFill>
                <a:effectLst/>
                <a:latin typeface="Arial" panose="020B0604020202020204" pitchFamily="34" charset="0"/>
                <a:cs typeface="Arial" panose="020B0604020202020204" pitchFamily="34" charset="0"/>
              </a:rPr>
              <a:t>git </a:t>
            </a:r>
            <a:r>
              <a:rPr lang="en-US" sz="2000" b="1" i="0" u="sng" dirty="0" err="1">
                <a:solidFill>
                  <a:srgbClr val="1F2328"/>
                </a:solidFill>
                <a:effectLst/>
                <a:latin typeface="Arial" panose="020B0604020202020204" pitchFamily="34" charset="0"/>
                <a:cs typeface="Arial" panose="020B0604020202020204" pitchFamily="34" charset="0"/>
              </a:rPr>
              <a:t>init</a:t>
            </a:r>
            <a:r>
              <a:rPr lang="en-US" sz="2000" b="1" i="0" u="sng" dirty="0">
                <a:solidFill>
                  <a:srgbClr val="1F2328"/>
                </a:solidFill>
                <a:effectLst/>
                <a:latin typeface="Arial" panose="020B0604020202020204" pitchFamily="34" charset="0"/>
                <a:cs typeface="Arial" panose="020B0604020202020204" pitchFamily="34" charset="0"/>
              </a:rPr>
              <a:t> </a:t>
            </a:r>
            <a:r>
              <a:rPr lang="en-US" sz="2000" b="0" i="0" dirty="0">
                <a:solidFill>
                  <a:srgbClr val="1F2328"/>
                </a:solidFill>
                <a:effectLst/>
                <a:latin typeface="Arial" panose="020B0604020202020204" pitchFamily="34" charset="0"/>
                <a:cs typeface="Arial" panose="020B0604020202020204" pitchFamily="34" charset="0"/>
              </a:rPr>
              <a:t>initializes a brand-new Git repository and begins tracking an existing directory. It adds a hidden subfolder within the existing directory that houses the internal data structure required for version control.</a:t>
            </a:r>
          </a:p>
          <a:p>
            <a:pPr>
              <a:spcBef>
                <a:spcPts val="0"/>
              </a:spcBef>
            </a:pPr>
            <a:r>
              <a:rPr lang="en-US" sz="2000" b="1" i="0" u="sng" dirty="0">
                <a:solidFill>
                  <a:srgbClr val="1F2328"/>
                </a:solidFill>
                <a:effectLst/>
                <a:latin typeface="Arial" panose="020B0604020202020204" pitchFamily="34" charset="0"/>
                <a:cs typeface="Arial" panose="020B0604020202020204" pitchFamily="34" charset="0"/>
              </a:rPr>
              <a:t>git clone </a:t>
            </a:r>
            <a:r>
              <a:rPr lang="en-US" sz="2000" b="0" i="0" dirty="0">
                <a:solidFill>
                  <a:srgbClr val="1F2328"/>
                </a:solidFill>
                <a:effectLst/>
                <a:latin typeface="Arial" panose="020B0604020202020204" pitchFamily="34" charset="0"/>
                <a:cs typeface="Arial" panose="020B0604020202020204" pitchFamily="34" charset="0"/>
              </a:rPr>
              <a:t>creates a local copy of a project that already exists remotely. The clone includes all the project's files, history, and branches.</a:t>
            </a:r>
          </a:p>
          <a:p>
            <a:pPr>
              <a:spcBef>
                <a:spcPts val="0"/>
              </a:spcBef>
            </a:pPr>
            <a:r>
              <a:rPr lang="en-US" sz="2000" b="1" i="0" u="sng" dirty="0">
                <a:solidFill>
                  <a:srgbClr val="1F2328"/>
                </a:solidFill>
                <a:effectLst/>
                <a:latin typeface="Arial" panose="020B0604020202020204" pitchFamily="34" charset="0"/>
                <a:cs typeface="Arial" panose="020B0604020202020204" pitchFamily="34" charset="0"/>
              </a:rPr>
              <a:t>git add </a:t>
            </a:r>
            <a:r>
              <a:rPr lang="en-US" sz="2000" b="0" i="0" dirty="0">
                <a:solidFill>
                  <a:srgbClr val="1F2328"/>
                </a:solidFill>
                <a:effectLst/>
                <a:latin typeface="Arial" panose="020B0604020202020204" pitchFamily="34" charset="0"/>
                <a:cs typeface="Arial" panose="020B0604020202020204" pitchFamily="34" charset="0"/>
              </a:rPr>
              <a:t>stages a change. Git tracks changes to a developer's codebase, but it's necessary to stage and take a snapshot of the changes to include them in the project's history. </a:t>
            </a:r>
            <a:endParaRPr lang="en-US" sz="2000" dirty="0">
              <a:solidFill>
                <a:srgbClr val="1F2328"/>
              </a:solidFill>
              <a:latin typeface="Arial" panose="020B0604020202020204" pitchFamily="34" charset="0"/>
              <a:cs typeface="Arial" panose="020B0604020202020204" pitchFamily="34" charset="0"/>
            </a:endParaRPr>
          </a:p>
          <a:p>
            <a:pPr>
              <a:spcBef>
                <a:spcPts val="0"/>
              </a:spcBef>
            </a:pPr>
            <a:r>
              <a:rPr lang="en-US" sz="2000" b="1" i="0" u="sng" dirty="0">
                <a:solidFill>
                  <a:srgbClr val="1F2328"/>
                </a:solidFill>
                <a:effectLst/>
                <a:latin typeface="Arial" panose="020B0604020202020204" pitchFamily="34" charset="0"/>
                <a:cs typeface="Arial" panose="020B0604020202020204" pitchFamily="34" charset="0"/>
              </a:rPr>
              <a:t>git commit </a:t>
            </a:r>
            <a:r>
              <a:rPr lang="en-US" sz="2000" b="0" i="0" dirty="0">
                <a:solidFill>
                  <a:srgbClr val="1F2328"/>
                </a:solidFill>
                <a:effectLst/>
                <a:latin typeface="Arial" panose="020B0604020202020204" pitchFamily="34" charset="0"/>
                <a:cs typeface="Arial" panose="020B0604020202020204" pitchFamily="34" charset="0"/>
              </a:rPr>
              <a:t>saves the snapshot to the project history and completes the change-tracking process. In short, a commit functions like taking a photo. Anything that's been staged with git add will become a part of the snapshot with git commit.</a:t>
            </a:r>
          </a:p>
          <a:p>
            <a:pPr>
              <a:spcBef>
                <a:spcPts val="0"/>
              </a:spcBef>
            </a:pPr>
            <a:r>
              <a:rPr lang="en-US" sz="2000" b="1" i="0" u="sng" dirty="0">
                <a:solidFill>
                  <a:srgbClr val="1F2328"/>
                </a:solidFill>
                <a:effectLst/>
                <a:latin typeface="Arial" panose="020B0604020202020204" pitchFamily="34" charset="0"/>
                <a:cs typeface="Arial" panose="020B0604020202020204" pitchFamily="34" charset="0"/>
              </a:rPr>
              <a:t>git status </a:t>
            </a:r>
            <a:r>
              <a:rPr lang="en-US" sz="2000" b="0" i="0" dirty="0">
                <a:solidFill>
                  <a:srgbClr val="1F2328"/>
                </a:solidFill>
                <a:effectLst/>
                <a:latin typeface="Arial" panose="020B0604020202020204" pitchFamily="34" charset="0"/>
                <a:cs typeface="Arial" panose="020B0604020202020204" pitchFamily="34" charset="0"/>
              </a:rPr>
              <a:t>shows the status of changes as untracked, modified, or staged.</a:t>
            </a:r>
          </a:p>
          <a:p>
            <a:pPr>
              <a:spcBef>
                <a:spcPts val="0"/>
              </a:spcBef>
            </a:pPr>
            <a:r>
              <a:rPr lang="en-US" sz="2000" b="1" i="0" u="sng" dirty="0">
                <a:solidFill>
                  <a:srgbClr val="1F2328"/>
                </a:solidFill>
                <a:effectLst/>
                <a:latin typeface="Arial" panose="020B0604020202020204" pitchFamily="34" charset="0"/>
                <a:cs typeface="Arial" panose="020B0604020202020204" pitchFamily="34" charset="0"/>
              </a:rPr>
              <a:t>git branch </a:t>
            </a:r>
            <a:r>
              <a:rPr lang="en-US" sz="2000" b="0" i="0" dirty="0">
                <a:solidFill>
                  <a:srgbClr val="1F2328"/>
                </a:solidFill>
                <a:effectLst/>
                <a:latin typeface="Arial" panose="020B0604020202020204" pitchFamily="34" charset="0"/>
                <a:cs typeface="Arial" panose="020B0604020202020204" pitchFamily="34" charset="0"/>
              </a:rPr>
              <a:t>shows the branches being worked on locally.</a:t>
            </a:r>
          </a:p>
          <a:p>
            <a:pPr algn="l">
              <a:spcBef>
                <a:spcPts val="0"/>
              </a:spcBef>
              <a:buFont typeface="Arial" panose="020B0604020202020204" pitchFamily="34" charset="0"/>
              <a:buChar char="•"/>
            </a:pPr>
            <a:r>
              <a:rPr lang="en-US" sz="2000" b="1" i="0" u="sng" dirty="0">
                <a:solidFill>
                  <a:srgbClr val="1F2328"/>
                </a:solidFill>
                <a:effectLst/>
                <a:latin typeface="Arial" panose="020B0604020202020204" pitchFamily="34" charset="0"/>
                <a:cs typeface="Arial" panose="020B0604020202020204" pitchFamily="34" charset="0"/>
              </a:rPr>
              <a:t>git merge </a:t>
            </a:r>
            <a:r>
              <a:rPr lang="en-US" sz="2000" b="0" i="0" dirty="0">
                <a:solidFill>
                  <a:srgbClr val="1F2328"/>
                </a:solidFill>
                <a:effectLst/>
                <a:latin typeface="Arial" panose="020B0604020202020204" pitchFamily="34" charset="0"/>
                <a:cs typeface="Arial" panose="020B0604020202020204" pitchFamily="34" charset="0"/>
              </a:rPr>
              <a:t>merges lines of development together. This command is typically used to combine changes made on two distinct branches. </a:t>
            </a:r>
          </a:p>
          <a:p>
            <a:pPr algn="l">
              <a:spcBef>
                <a:spcPts val="0"/>
              </a:spcBef>
              <a:buFont typeface="Arial" panose="020B0604020202020204" pitchFamily="34" charset="0"/>
              <a:buChar char="•"/>
            </a:pPr>
            <a:r>
              <a:rPr lang="en-US" sz="2000" b="1" i="0" u="sng" dirty="0">
                <a:solidFill>
                  <a:srgbClr val="1F2328"/>
                </a:solidFill>
                <a:effectLst/>
                <a:latin typeface="Arial" panose="020B0604020202020204" pitchFamily="34" charset="0"/>
                <a:cs typeface="Arial" panose="020B0604020202020204" pitchFamily="34" charset="0"/>
              </a:rPr>
              <a:t>git pull </a:t>
            </a:r>
            <a:r>
              <a:rPr lang="en-US" sz="2000" b="0" i="0" dirty="0">
                <a:solidFill>
                  <a:srgbClr val="1F2328"/>
                </a:solidFill>
                <a:effectLst/>
                <a:latin typeface="Arial" panose="020B0604020202020204" pitchFamily="34" charset="0"/>
                <a:cs typeface="Arial" panose="020B0604020202020204" pitchFamily="34" charset="0"/>
              </a:rPr>
              <a:t>updates the local line of development with updates from its remote counterpart. Developers use this command if a teammate has made commits to a branch on a remote, and they would like to reflect those changes in their local environment.</a:t>
            </a:r>
          </a:p>
          <a:p>
            <a:pPr algn="l">
              <a:spcBef>
                <a:spcPts val="0"/>
              </a:spcBef>
              <a:buFont typeface="Arial" panose="020B0604020202020204" pitchFamily="34" charset="0"/>
              <a:buChar char="•"/>
            </a:pPr>
            <a:r>
              <a:rPr lang="en-US" sz="2000" b="1" i="0" u="sng" dirty="0">
                <a:solidFill>
                  <a:srgbClr val="1F2328"/>
                </a:solidFill>
                <a:effectLst/>
                <a:latin typeface="Arial" panose="020B0604020202020204" pitchFamily="34" charset="0"/>
                <a:cs typeface="Arial" panose="020B0604020202020204" pitchFamily="34" charset="0"/>
              </a:rPr>
              <a:t>git push </a:t>
            </a:r>
            <a:r>
              <a:rPr lang="en-US" sz="2000" b="0" i="0" dirty="0">
                <a:solidFill>
                  <a:srgbClr val="1F2328"/>
                </a:solidFill>
                <a:effectLst/>
                <a:latin typeface="Arial" panose="020B0604020202020204" pitchFamily="34" charset="0"/>
                <a:cs typeface="Arial" panose="020B0604020202020204" pitchFamily="34" charset="0"/>
              </a:rPr>
              <a:t>updates the remote repository with any commits made locally to a branch.</a:t>
            </a:r>
          </a:p>
        </p:txBody>
      </p:sp>
      <p:sp>
        <p:nvSpPr>
          <p:cNvPr id="4" name="Slide Number Placeholder 3">
            <a:extLst>
              <a:ext uri="{FF2B5EF4-FFF2-40B4-BE49-F238E27FC236}">
                <a16:creationId xmlns:a16="http://schemas.microsoft.com/office/drawing/2014/main" id="{BCB16EF1-CA34-9A51-5775-5105CD3B417B}"/>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8</a:t>
            </a:fld>
            <a:endParaRPr lang="en-US">
              <a:solidFill>
                <a:prstClr val="black">
                  <a:tint val="75000"/>
                </a:prstClr>
              </a:solidFill>
              <a:latin typeface="Calibri"/>
            </a:endParaRPr>
          </a:p>
        </p:txBody>
      </p:sp>
    </p:spTree>
    <p:extLst>
      <p:ext uri="{BB962C8B-B14F-4D97-AF65-F5344CB8AC3E}">
        <p14:creationId xmlns:p14="http://schemas.microsoft.com/office/powerpoint/2010/main" val="1242438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4468-15C4-7D44-BAE8-637DB3266E2E}"/>
              </a:ext>
            </a:extLst>
          </p:cNvPr>
          <p:cNvSpPr>
            <a:spLocks noGrp="1"/>
          </p:cNvSpPr>
          <p:nvPr>
            <p:ph type="title"/>
          </p:nvPr>
        </p:nvSpPr>
        <p:spPr/>
        <p:txBody>
          <a:bodyPr/>
          <a:lstStyle/>
          <a:p>
            <a:r>
              <a:rPr lang="en-US" dirty="0"/>
              <a:t>Local and remote workflow</a:t>
            </a:r>
          </a:p>
        </p:txBody>
      </p:sp>
      <p:sp>
        <p:nvSpPr>
          <p:cNvPr id="4" name="Slide Number Placeholder 3">
            <a:extLst>
              <a:ext uri="{FF2B5EF4-FFF2-40B4-BE49-F238E27FC236}">
                <a16:creationId xmlns:a16="http://schemas.microsoft.com/office/drawing/2014/main" id="{81BDD44F-EFAC-574F-AB83-22A85FCAA44B}"/>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9</a:t>
            </a:fld>
            <a:endParaRPr lang="en-US">
              <a:solidFill>
                <a:prstClr val="black">
                  <a:tint val="75000"/>
                </a:prstClr>
              </a:solidFill>
              <a:latin typeface="Calibri"/>
            </a:endParaRPr>
          </a:p>
        </p:txBody>
      </p:sp>
      <p:pic>
        <p:nvPicPr>
          <p:cNvPr id="6" name="Picture 5">
            <a:extLst>
              <a:ext uri="{FF2B5EF4-FFF2-40B4-BE49-F238E27FC236}">
                <a16:creationId xmlns:a16="http://schemas.microsoft.com/office/drawing/2014/main" id="{286BB67F-6213-324E-9988-48536B5C0C44}"/>
              </a:ext>
            </a:extLst>
          </p:cNvPr>
          <p:cNvPicPr>
            <a:picLocks noChangeAspect="1"/>
          </p:cNvPicPr>
          <p:nvPr/>
        </p:nvPicPr>
        <p:blipFill>
          <a:blip r:embed="rId2"/>
          <a:stretch>
            <a:fillRect/>
          </a:stretch>
        </p:blipFill>
        <p:spPr>
          <a:xfrm>
            <a:off x="2242820" y="1143193"/>
            <a:ext cx="8196580" cy="5395739"/>
          </a:xfrm>
          <a:prstGeom prst="rect">
            <a:avLst/>
          </a:prstGeom>
        </p:spPr>
      </p:pic>
    </p:spTree>
    <p:extLst>
      <p:ext uri="{BB962C8B-B14F-4D97-AF65-F5344CB8AC3E}">
        <p14:creationId xmlns:p14="http://schemas.microsoft.com/office/powerpoint/2010/main" val="1501672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B42E-6A78-2242-B3EB-14361F169DA3}"/>
              </a:ext>
            </a:extLst>
          </p:cNvPr>
          <p:cNvSpPr>
            <a:spLocks noGrp="1"/>
          </p:cNvSpPr>
          <p:nvPr>
            <p:ph type="title"/>
          </p:nvPr>
        </p:nvSpPr>
        <p:spPr/>
        <p:txBody>
          <a:bodyPr/>
          <a:lstStyle/>
          <a:p>
            <a:r>
              <a:rPr lang="en-US" dirty="0"/>
              <a:t>Other git essentials</a:t>
            </a:r>
          </a:p>
        </p:txBody>
      </p:sp>
      <p:sp>
        <p:nvSpPr>
          <p:cNvPr id="3" name="Content Placeholder 2">
            <a:extLst>
              <a:ext uri="{FF2B5EF4-FFF2-40B4-BE49-F238E27FC236}">
                <a16:creationId xmlns:a16="http://schemas.microsoft.com/office/drawing/2014/main" id="{2CCAF786-07DA-5E43-81D3-D39F0F9F1238}"/>
              </a:ext>
            </a:extLst>
          </p:cNvPr>
          <p:cNvSpPr>
            <a:spLocks noGrp="1"/>
          </p:cNvSpPr>
          <p:nvPr>
            <p:ph idx="1"/>
          </p:nvPr>
        </p:nvSpPr>
        <p:spPr/>
        <p:txBody>
          <a:bodyPr/>
          <a:lstStyle/>
          <a:p>
            <a:r>
              <a:rPr lang="en-US" dirty="0"/>
              <a:t>Branches in git are basically different versions of the code</a:t>
            </a:r>
          </a:p>
          <a:p>
            <a:endParaRPr lang="en-US" dirty="0"/>
          </a:p>
          <a:p>
            <a:r>
              <a:rPr lang="en-US" dirty="0"/>
              <a:t>git branch to view current branches in the repo</a:t>
            </a:r>
          </a:p>
          <a:p>
            <a:r>
              <a:rPr lang="en-US" dirty="0"/>
              <a:t>git checkout &lt;branch name&gt; to switch to an existing branch</a:t>
            </a:r>
          </a:p>
          <a:p>
            <a:r>
              <a:rPr lang="en-US" dirty="0"/>
              <a:t>git checkout –b &lt;branch name&gt; to create a new branch</a:t>
            </a:r>
          </a:p>
          <a:p>
            <a:endParaRPr lang="en-US" dirty="0"/>
          </a:p>
          <a:p>
            <a:r>
              <a:rPr lang="en-US" dirty="0"/>
              <a:t>If adding major features or major code developments, best practice is to create a new branch. You can merge branches later.</a:t>
            </a:r>
          </a:p>
        </p:txBody>
      </p:sp>
      <p:sp>
        <p:nvSpPr>
          <p:cNvPr id="4" name="Slide Number Placeholder 3">
            <a:extLst>
              <a:ext uri="{FF2B5EF4-FFF2-40B4-BE49-F238E27FC236}">
                <a16:creationId xmlns:a16="http://schemas.microsoft.com/office/drawing/2014/main" id="{ABB6578F-F8ED-7648-8492-5FADE4927D38}"/>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10</a:t>
            </a:fld>
            <a:endParaRPr lang="en-US">
              <a:solidFill>
                <a:prstClr val="black">
                  <a:tint val="75000"/>
                </a:prstClr>
              </a:solidFill>
              <a:latin typeface="Calibri"/>
            </a:endParaRPr>
          </a:p>
        </p:txBody>
      </p:sp>
    </p:spTree>
    <p:extLst>
      <p:ext uri="{BB962C8B-B14F-4D97-AF65-F5344CB8AC3E}">
        <p14:creationId xmlns:p14="http://schemas.microsoft.com/office/powerpoint/2010/main" val="3300729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902C-70D3-2C4B-B9E7-1AA5D3C4EE68}"/>
              </a:ext>
            </a:extLst>
          </p:cNvPr>
          <p:cNvSpPr>
            <a:spLocks noGrp="1"/>
          </p:cNvSpPr>
          <p:nvPr>
            <p:ph type="title"/>
          </p:nvPr>
        </p:nvSpPr>
        <p:spPr/>
        <p:txBody>
          <a:bodyPr/>
          <a:lstStyle/>
          <a:p>
            <a:r>
              <a:rPr lang="en-US" dirty="0"/>
              <a:t>Other git essentials</a:t>
            </a:r>
          </a:p>
        </p:txBody>
      </p:sp>
      <p:sp>
        <p:nvSpPr>
          <p:cNvPr id="3" name="Content Placeholder 2">
            <a:extLst>
              <a:ext uri="{FF2B5EF4-FFF2-40B4-BE49-F238E27FC236}">
                <a16:creationId xmlns:a16="http://schemas.microsoft.com/office/drawing/2014/main" id="{25DFA26B-12A2-344F-8EAB-397BBF3F3361}"/>
              </a:ext>
            </a:extLst>
          </p:cNvPr>
          <p:cNvSpPr>
            <a:spLocks noGrp="1"/>
          </p:cNvSpPr>
          <p:nvPr>
            <p:ph idx="1"/>
          </p:nvPr>
        </p:nvSpPr>
        <p:spPr/>
        <p:txBody>
          <a:bodyPr/>
          <a:lstStyle/>
          <a:p>
            <a:r>
              <a:rPr lang="en-US" dirty="0"/>
              <a:t>git status</a:t>
            </a:r>
          </a:p>
          <a:p>
            <a:pPr lvl="1"/>
            <a:r>
              <a:rPr lang="en-US" dirty="0"/>
              <a:t>Tells you which files in your repository have been staged and committed. Also any files that are untracked</a:t>
            </a:r>
          </a:p>
          <a:p>
            <a:pPr marL="457200" lvl="1" indent="0">
              <a:buNone/>
            </a:pPr>
            <a:endParaRPr lang="en-US" dirty="0"/>
          </a:p>
        </p:txBody>
      </p:sp>
      <p:sp>
        <p:nvSpPr>
          <p:cNvPr id="4" name="Slide Number Placeholder 3">
            <a:extLst>
              <a:ext uri="{FF2B5EF4-FFF2-40B4-BE49-F238E27FC236}">
                <a16:creationId xmlns:a16="http://schemas.microsoft.com/office/drawing/2014/main" id="{198D8E25-01D7-C746-A759-954068437806}"/>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11</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16397172-7BD1-EE4E-B00E-ADEE717E3C6F}"/>
              </a:ext>
            </a:extLst>
          </p:cNvPr>
          <p:cNvPicPr>
            <a:picLocks noChangeAspect="1"/>
          </p:cNvPicPr>
          <p:nvPr/>
        </p:nvPicPr>
        <p:blipFill>
          <a:blip r:embed="rId2"/>
          <a:stretch>
            <a:fillRect/>
          </a:stretch>
        </p:blipFill>
        <p:spPr>
          <a:xfrm>
            <a:off x="2194560" y="2683811"/>
            <a:ext cx="7147560" cy="4037684"/>
          </a:xfrm>
          <a:prstGeom prst="rect">
            <a:avLst/>
          </a:prstGeom>
        </p:spPr>
      </p:pic>
    </p:spTree>
    <p:extLst>
      <p:ext uri="{BB962C8B-B14F-4D97-AF65-F5344CB8AC3E}">
        <p14:creationId xmlns:p14="http://schemas.microsoft.com/office/powerpoint/2010/main" val="815991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DEC0B-215F-E441-BE2D-3A197910B713}"/>
              </a:ext>
            </a:extLst>
          </p:cNvPr>
          <p:cNvSpPr>
            <a:spLocks noGrp="1"/>
          </p:cNvSpPr>
          <p:nvPr>
            <p:ph type="title"/>
          </p:nvPr>
        </p:nvSpPr>
        <p:spPr/>
        <p:txBody>
          <a:bodyPr/>
          <a:lstStyle/>
          <a:p>
            <a:r>
              <a:rPr lang="en-US" dirty="0"/>
              <a:t>Other git essentials</a:t>
            </a:r>
          </a:p>
        </p:txBody>
      </p:sp>
      <p:sp>
        <p:nvSpPr>
          <p:cNvPr id="3" name="Content Placeholder 2">
            <a:extLst>
              <a:ext uri="{FF2B5EF4-FFF2-40B4-BE49-F238E27FC236}">
                <a16:creationId xmlns:a16="http://schemas.microsoft.com/office/drawing/2014/main" id="{A3336BDD-F763-1646-8A37-5C7A8DFCCC34}"/>
              </a:ext>
            </a:extLst>
          </p:cNvPr>
          <p:cNvSpPr>
            <a:spLocks noGrp="1"/>
          </p:cNvSpPr>
          <p:nvPr>
            <p:ph idx="1"/>
          </p:nvPr>
        </p:nvSpPr>
        <p:spPr/>
        <p:txBody>
          <a:bodyPr/>
          <a:lstStyle/>
          <a:p>
            <a:r>
              <a:rPr lang="en-US" dirty="0"/>
              <a:t>git help &lt;verb&gt; </a:t>
            </a:r>
          </a:p>
          <a:p>
            <a:pPr lvl="1"/>
            <a:r>
              <a:rPr lang="en-US" dirty="0"/>
              <a:t>Get help on any of the commands</a:t>
            </a:r>
          </a:p>
          <a:p>
            <a:pPr lvl="1"/>
            <a:endParaRPr lang="en-US" dirty="0"/>
          </a:p>
          <a:p>
            <a:r>
              <a:rPr lang="en-US" dirty="0"/>
              <a:t>git diff </a:t>
            </a:r>
          </a:p>
          <a:p>
            <a:pPr lvl="1"/>
            <a:r>
              <a:rPr lang="en-US" dirty="0"/>
              <a:t>Print out a list of what has been edited but not staged</a:t>
            </a:r>
          </a:p>
          <a:p>
            <a:r>
              <a:rPr lang="en-US" dirty="0"/>
              <a:t>git diff --staged</a:t>
            </a:r>
          </a:p>
          <a:p>
            <a:pPr lvl="1"/>
            <a:r>
              <a:rPr lang="en-US" dirty="0"/>
              <a:t>Print out what is staged but not yet committed</a:t>
            </a:r>
          </a:p>
          <a:p>
            <a:pPr lvl="1"/>
            <a:endParaRPr lang="en-US" dirty="0"/>
          </a:p>
          <a:p>
            <a:r>
              <a:rPr lang="en-US" dirty="0"/>
              <a:t>git merge &lt;branch&gt;</a:t>
            </a:r>
          </a:p>
          <a:p>
            <a:pPr lvl="1"/>
            <a:r>
              <a:rPr lang="en-US" dirty="0"/>
              <a:t>Merge the specified branch’s history into the current one you have checked out</a:t>
            </a:r>
          </a:p>
        </p:txBody>
      </p:sp>
      <p:sp>
        <p:nvSpPr>
          <p:cNvPr id="4" name="Slide Number Placeholder 3">
            <a:extLst>
              <a:ext uri="{FF2B5EF4-FFF2-40B4-BE49-F238E27FC236}">
                <a16:creationId xmlns:a16="http://schemas.microsoft.com/office/drawing/2014/main" id="{B4A9775D-F2AF-F740-B750-35CAE3D1805F}"/>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12</a:t>
            </a:fld>
            <a:endParaRPr lang="en-US">
              <a:solidFill>
                <a:prstClr val="black">
                  <a:tint val="75000"/>
                </a:prstClr>
              </a:solidFill>
              <a:latin typeface="Calibri"/>
            </a:endParaRPr>
          </a:p>
        </p:txBody>
      </p:sp>
    </p:spTree>
    <p:extLst>
      <p:ext uri="{BB962C8B-B14F-4D97-AF65-F5344CB8AC3E}">
        <p14:creationId xmlns:p14="http://schemas.microsoft.com/office/powerpoint/2010/main" val="77142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CAAB2-A997-EC47-B931-508163CB4254}"/>
              </a:ext>
            </a:extLst>
          </p:cNvPr>
          <p:cNvSpPr>
            <a:spLocks noGrp="1"/>
          </p:cNvSpPr>
          <p:nvPr>
            <p:ph type="title"/>
          </p:nvPr>
        </p:nvSpPr>
        <p:spPr/>
        <p:txBody>
          <a:bodyPr/>
          <a:lstStyle/>
          <a:p>
            <a:r>
              <a:rPr lang="en-US" dirty="0"/>
              <a:t>Other git essentials</a:t>
            </a:r>
          </a:p>
        </p:txBody>
      </p:sp>
      <p:sp>
        <p:nvSpPr>
          <p:cNvPr id="3" name="Content Placeholder 2">
            <a:extLst>
              <a:ext uri="{FF2B5EF4-FFF2-40B4-BE49-F238E27FC236}">
                <a16:creationId xmlns:a16="http://schemas.microsoft.com/office/drawing/2014/main" id="{6FE4AF18-A48C-554E-98F5-7C9A44EAA652}"/>
              </a:ext>
            </a:extLst>
          </p:cNvPr>
          <p:cNvSpPr>
            <a:spLocks noGrp="1"/>
          </p:cNvSpPr>
          <p:nvPr>
            <p:ph idx="1"/>
          </p:nvPr>
        </p:nvSpPr>
        <p:spPr/>
        <p:txBody>
          <a:bodyPr/>
          <a:lstStyle/>
          <a:p>
            <a:r>
              <a:rPr lang="en-US" dirty="0"/>
              <a:t>git log</a:t>
            </a:r>
          </a:p>
        </p:txBody>
      </p:sp>
      <p:sp>
        <p:nvSpPr>
          <p:cNvPr id="4" name="Slide Number Placeholder 3">
            <a:extLst>
              <a:ext uri="{FF2B5EF4-FFF2-40B4-BE49-F238E27FC236}">
                <a16:creationId xmlns:a16="http://schemas.microsoft.com/office/drawing/2014/main" id="{FE15CBBB-B076-4A47-9041-19AD507645DF}"/>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13</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B00A4765-6B5C-8042-8E43-E64663A39B21}"/>
              </a:ext>
            </a:extLst>
          </p:cNvPr>
          <p:cNvPicPr>
            <a:picLocks noChangeAspect="1"/>
          </p:cNvPicPr>
          <p:nvPr/>
        </p:nvPicPr>
        <p:blipFill>
          <a:blip r:embed="rId2"/>
          <a:stretch>
            <a:fillRect/>
          </a:stretch>
        </p:blipFill>
        <p:spPr>
          <a:xfrm>
            <a:off x="886460" y="1742795"/>
            <a:ext cx="8912860" cy="4383374"/>
          </a:xfrm>
          <a:prstGeom prst="rect">
            <a:avLst/>
          </a:prstGeom>
        </p:spPr>
      </p:pic>
    </p:spTree>
    <p:extLst>
      <p:ext uri="{BB962C8B-B14F-4D97-AF65-F5344CB8AC3E}">
        <p14:creationId xmlns:p14="http://schemas.microsoft.com/office/powerpoint/2010/main" val="4156057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3D47-DA04-3E4E-A572-F469C21A1616}"/>
              </a:ext>
            </a:extLst>
          </p:cNvPr>
          <p:cNvSpPr>
            <a:spLocks noGrp="1"/>
          </p:cNvSpPr>
          <p:nvPr>
            <p:ph type="title"/>
          </p:nvPr>
        </p:nvSpPr>
        <p:spPr/>
        <p:txBody>
          <a:bodyPr/>
          <a:lstStyle/>
          <a:p>
            <a:r>
              <a:rPr lang="en-US" dirty="0"/>
              <a:t>Other git essentials</a:t>
            </a:r>
          </a:p>
        </p:txBody>
      </p:sp>
      <p:sp>
        <p:nvSpPr>
          <p:cNvPr id="3" name="Content Placeholder 2">
            <a:extLst>
              <a:ext uri="{FF2B5EF4-FFF2-40B4-BE49-F238E27FC236}">
                <a16:creationId xmlns:a16="http://schemas.microsoft.com/office/drawing/2014/main" id="{E6B95289-5AF7-8F4E-AE7D-E21BA22CAFC2}"/>
              </a:ext>
            </a:extLst>
          </p:cNvPr>
          <p:cNvSpPr>
            <a:spLocks noGrp="1"/>
          </p:cNvSpPr>
          <p:nvPr>
            <p:ph idx="1"/>
          </p:nvPr>
        </p:nvSpPr>
        <p:spPr/>
        <p:txBody>
          <a:bodyPr/>
          <a:lstStyle/>
          <a:p>
            <a:r>
              <a:rPr lang="en-US" dirty="0"/>
              <a:t>git pull</a:t>
            </a:r>
          </a:p>
        </p:txBody>
      </p:sp>
      <p:sp>
        <p:nvSpPr>
          <p:cNvPr id="4" name="Slide Number Placeholder 3">
            <a:extLst>
              <a:ext uri="{FF2B5EF4-FFF2-40B4-BE49-F238E27FC236}">
                <a16:creationId xmlns:a16="http://schemas.microsoft.com/office/drawing/2014/main" id="{D8F6476F-B2C8-5C46-BCB3-962278005AC0}"/>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14</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B263216F-DD5A-FA4C-8025-5AD76901CAF5}"/>
              </a:ext>
            </a:extLst>
          </p:cNvPr>
          <p:cNvPicPr>
            <a:picLocks noChangeAspect="1"/>
          </p:cNvPicPr>
          <p:nvPr/>
        </p:nvPicPr>
        <p:blipFill>
          <a:blip r:embed="rId2"/>
          <a:stretch>
            <a:fillRect/>
          </a:stretch>
        </p:blipFill>
        <p:spPr>
          <a:xfrm>
            <a:off x="685799" y="1786736"/>
            <a:ext cx="11211173" cy="3684423"/>
          </a:xfrm>
          <a:prstGeom prst="rect">
            <a:avLst/>
          </a:prstGeom>
        </p:spPr>
      </p:pic>
    </p:spTree>
    <p:extLst>
      <p:ext uri="{BB962C8B-B14F-4D97-AF65-F5344CB8AC3E}">
        <p14:creationId xmlns:p14="http://schemas.microsoft.com/office/powerpoint/2010/main" val="292930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2236D-1A27-A542-8412-415003E80FE5}"/>
              </a:ext>
            </a:extLst>
          </p:cNvPr>
          <p:cNvSpPr>
            <a:spLocks noGrp="1"/>
          </p:cNvSpPr>
          <p:nvPr>
            <p:ph type="title"/>
          </p:nvPr>
        </p:nvSpPr>
        <p:spPr/>
        <p:txBody>
          <a:bodyPr/>
          <a:lstStyle/>
          <a:p>
            <a:r>
              <a:rPr lang="en-US" dirty="0"/>
              <a:t>Adding and ignoring files</a:t>
            </a:r>
          </a:p>
        </p:txBody>
      </p:sp>
      <p:sp>
        <p:nvSpPr>
          <p:cNvPr id="3" name="Content Placeholder 2">
            <a:extLst>
              <a:ext uri="{FF2B5EF4-FFF2-40B4-BE49-F238E27FC236}">
                <a16:creationId xmlns:a16="http://schemas.microsoft.com/office/drawing/2014/main" id="{A3906028-2102-1248-A6E1-BF465366BFF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F8DF27A-509E-BC46-A49E-8742E2B849E2}"/>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15</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F37ED191-7AA2-514B-B4FC-0EE107204088}"/>
              </a:ext>
            </a:extLst>
          </p:cNvPr>
          <p:cNvPicPr>
            <a:picLocks noChangeAspect="1"/>
          </p:cNvPicPr>
          <p:nvPr/>
        </p:nvPicPr>
        <p:blipFill>
          <a:blip r:embed="rId2"/>
          <a:stretch>
            <a:fillRect/>
          </a:stretch>
        </p:blipFill>
        <p:spPr>
          <a:xfrm>
            <a:off x="596900" y="1003306"/>
            <a:ext cx="11037508" cy="5353064"/>
          </a:xfrm>
          <a:prstGeom prst="rect">
            <a:avLst/>
          </a:prstGeom>
        </p:spPr>
      </p:pic>
    </p:spTree>
    <p:extLst>
      <p:ext uri="{BB962C8B-B14F-4D97-AF65-F5344CB8AC3E}">
        <p14:creationId xmlns:p14="http://schemas.microsoft.com/office/powerpoint/2010/main" val="552247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0659F-5F0E-8143-8992-ED23A4A2EBCC}"/>
              </a:ext>
            </a:extLst>
          </p:cNvPr>
          <p:cNvSpPr>
            <a:spLocks noGrp="1"/>
          </p:cNvSpPr>
          <p:nvPr>
            <p:ph type="title"/>
          </p:nvPr>
        </p:nvSpPr>
        <p:spPr/>
        <p:txBody>
          <a:bodyPr/>
          <a:lstStyle/>
          <a:p>
            <a:r>
              <a:rPr lang="en-US" dirty="0"/>
              <a:t>Undoing mistakes!</a:t>
            </a:r>
          </a:p>
        </p:txBody>
      </p:sp>
      <p:sp>
        <p:nvSpPr>
          <p:cNvPr id="3" name="Content Placeholder 2">
            <a:extLst>
              <a:ext uri="{FF2B5EF4-FFF2-40B4-BE49-F238E27FC236}">
                <a16:creationId xmlns:a16="http://schemas.microsoft.com/office/drawing/2014/main" id="{524F3BAA-D5C8-8648-A954-6EAB247E1B0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4C3535A-E4B8-8C4C-9109-0DEA5A991DCF}"/>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16</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FA6A21D1-3529-414E-BA33-C9F8E19B6C97}"/>
              </a:ext>
            </a:extLst>
          </p:cNvPr>
          <p:cNvPicPr>
            <a:picLocks noChangeAspect="1"/>
          </p:cNvPicPr>
          <p:nvPr/>
        </p:nvPicPr>
        <p:blipFill>
          <a:blip r:embed="rId2"/>
          <a:stretch>
            <a:fillRect/>
          </a:stretch>
        </p:blipFill>
        <p:spPr>
          <a:xfrm>
            <a:off x="1323340" y="1068592"/>
            <a:ext cx="9070340" cy="3438292"/>
          </a:xfrm>
          <a:prstGeom prst="rect">
            <a:avLst/>
          </a:prstGeom>
        </p:spPr>
      </p:pic>
    </p:spTree>
    <p:extLst>
      <p:ext uri="{BB962C8B-B14F-4D97-AF65-F5344CB8AC3E}">
        <p14:creationId xmlns:p14="http://schemas.microsoft.com/office/powerpoint/2010/main" val="196044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7D3E-A99C-CC4A-91FF-CAB16C8204EF}"/>
              </a:ext>
            </a:extLst>
          </p:cNvPr>
          <p:cNvSpPr>
            <a:spLocks noGrp="1"/>
          </p:cNvSpPr>
          <p:nvPr>
            <p:ph type="title"/>
          </p:nvPr>
        </p:nvSpPr>
        <p:spPr/>
        <p:txBody>
          <a:bodyPr/>
          <a:lstStyle/>
          <a:p>
            <a:r>
              <a:rPr lang="en-US" dirty="0"/>
              <a:t>Undoing mistakes!</a:t>
            </a:r>
          </a:p>
        </p:txBody>
      </p:sp>
      <p:sp>
        <p:nvSpPr>
          <p:cNvPr id="3" name="Content Placeholder 2">
            <a:extLst>
              <a:ext uri="{FF2B5EF4-FFF2-40B4-BE49-F238E27FC236}">
                <a16:creationId xmlns:a16="http://schemas.microsoft.com/office/drawing/2014/main" id="{FC572D8F-EFB8-9E4E-BD99-DE1A0F6083B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85CF06F-D203-C34F-8203-3D850EAB9FFD}"/>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17</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727F7CB0-A47E-4D48-9512-5CA067991010}"/>
              </a:ext>
            </a:extLst>
          </p:cNvPr>
          <p:cNvPicPr>
            <a:picLocks noChangeAspect="1"/>
          </p:cNvPicPr>
          <p:nvPr/>
        </p:nvPicPr>
        <p:blipFill>
          <a:blip r:embed="rId2"/>
          <a:stretch>
            <a:fillRect/>
          </a:stretch>
        </p:blipFill>
        <p:spPr>
          <a:xfrm>
            <a:off x="279430" y="1383995"/>
            <a:ext cx="11912570" cy="4742174"/>
          </a:xfrm>
          <a:prstGeom prst="rect">
            <a:avLst/>
          </a:prstGeom>
        </p:spPr>
      </p:pic>
    </p:spTree>
    <p:extLst>
      <p:ext uri="{BB962C8B-B14F-4D97-AF65-F5344CB8AC3E}">
        <p14:creationId xmlns:p14="http://schemas.microsoft.com/office/powerpoint/2010/main" val="4230645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DA90-7422-7109-56B0-30E549244B15}"/>
              </a:ext>
            </a:extLst>
          </p:cNvPr>
          <p:cNvSpPr>
            <a:spLocks noGrp="1"/>
          </p:cNvSpPr>
          <p:nvPr>
            <p:ph type="title"/>
          </p:nvPr>
        </p:nvSpPr>
        <p:spPr/>
        <p:txBody>
          <a:bodyPr/>
          <a:lstStyle/>
          <a:p>
            <a:r>
              <a:rPr lang="en-US" dirty="0"/>
              <a:t>Lecture notes will be pushed to this repository</a:t>
            </a:r>
          </a:p>
        </p:txBody>
      </p:sp>
      <p:sp>
        <p:nvSpPr>
          <p:cNvPr id="3" name="Content Placeholder 2">
            <a:extLst>
              <a:ext uri="{FF2B5EF4-FFF2-40B4-BE49-F238E27FC236}">
                <a16:creationId xmlns:a16="http://schemas.microsoft.com/office/drawing/2014/main" id="{0B4F8AA8-0AE6-25E7-D8E2-6CD3DD66BF60}"/>
              </a:ext>
            </a:extLst>
          </p:cNvPr>
          <p:cNvSpPr>
            <a:spLocks noGrp="1"/>
          </p:cNvSpPr>
          <p:nvPr>
            <p:ph idx="1"/>
          </p:nvPr>
        </p:nvSpPr>
        <p:spPr/>
        <p:txBody>
          <a:bodyPr/>
          <a:lstStyle/>
          <a:p>
            <a:r>
              <a:rPr lang="en-US" dirty="0"/>
              <a:t>https://</a:t>
            </a:r>
            <a:r>
              <a:rPr lang="en-US" dirty="0" err="1"/>
              <a:t>github.com</a:t>
            </a:r>
            <a:r>
              <a:rPr lang="en-US" dirty="0"/>
              <a:t>/dmw2166/comp-res-climate-data-sci-</a:t>
            </a:r>
            <a:r>
              <a:rPr lang="en-US" dirty="0" err="1"/>
              <a:t>online.git</a:t>
            </a:r>
            <a:endParaRPr lang="en-US" dirty="0"/>
          </a:p>
        </p:txBody>
      </p:sp>
      <p:sp>
        <p:nvSpPr>
          <p:cNvPr id="4" name="Slide Number Placeholder 3">
            <a:extLst>
              <a:ext uri="{FF2B5EF4-FFF2-40B4-BE49-F238E27FC236}">
                <a16:creationId xmlns:a16="http://schemas.microsoft.com/office/drawing/2014/main" id="{414358BF-9CD0-C920-2E1D-570233F1B355}"/>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18</a:t>
            </a:fld>
            <a:endParaRPr lang="en-US">
              <a:solidFill>
                <a:prstClr val="black">
                  <a:tint val="75000"/>
                </a:prstClr>
              </a:solidFill>
              <a:latin typeface="Calibri"/>
            </a:endParaRPr>
          </a:p>
        </p:txBody>
      </p:sp>
    </p:spTree>
    <p:extLst>
      <p:ext uri="{BB962C8B-B14F-4D97-AF65-F5344CB8AC3E}">
        <p14:creationId xmlns:p14="http://schemas.microsoft.com/office/powerpoint/2010/main" val="2125168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CB1D5-3D05-284D-BA46-C36E1133B6F4}"/>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62298B3B-3721-1046-B51C-604C0B32CF46}"/>
              </a:ext>
            </a:extLst>
          </p:cNvPr>
          <p:cNvSpPr>
            <a:spLocks noGrp="1"/>
          </p:cNvSpPr>
          <p:nvPr>
            <p:ph idx="1"/>
          </p:nvPr>
        </p:nvSpPr>
        <p:spPr/>
        <p:txBody>
          <a:bodyPr/>
          <a:lstStyle/>
          <a:p>
            <a:r>
              <a:rPr lang="en-US" dirty="0">
                <a:hlinkClick r:id="rId2"/>
              </a:rPr>
              <a:t>https://docs.github.com/en/get-started/using-git/about-git#about-version-control-and-git</a:t>
            </a:r>
            <a:endParaRPr lang="en-US" dirty="0"/>
          </a:p>
          <a:p>
            <a:endParaRPr lang="en-US" dirty="0"/>
          </a:p>
          <a:p>
            <a:r>
              <a:rPr lang="en-US" dirty="0">
                <a:hlinkClick r:id="rId3"/>
              </a:rPr>
              <a:t>https://education.github.com/git-cheat-sheet-education.pdf</a:t>
            </a:r>
            <a:endParaRPr lang="en-US" dirty="0"/>
          </a:p>
          <a:p>
            <a:endParaRPr lang="en-US" dirty="0"/>
          </a:p>
          <a:p>
            <a:r>
              <a:rPr lang="en-US" dirty="0">
                <a:hlinkClick r:id="rId4"/>
              </a:rPr>
              <a:t>https://training.github.com/downloads/github-git-cheat-sheet/</a:t>
            </a:r>
            <a:endParaRPr lang="en-US" dirty="0"/>
          </a:p>
          <a:p>
            <a:endParaRPr lang="en-US" dirty="0"/>
          </a:p>
          <a:p>
            <a:r>
              <a:rPr lang="en-US" dirty="0">
                <a:hlinkClick r:id="rId5"/>
              </a:rPr>
              <a:t>https://swcarpentry.github.io/git-novice/</a:t>
            </a:r>
            <a:endParaRPr lang="en-US" dirty="0"/>
          </a:p>
          <a:p>
            <a:endParaRPr lang="en-US" dirty="0"/>
          </a:p>
          <a:p>
            <a:r>
              <a:rPr lang="en-US" dirty="0"/>
              <a:t>https://git-</a:t>
            </a:r>
            <a:r>
              <a:rPr lang="en-US" dirty="0" err="1"/>
              <a:t>scm.com</a:t>
            </a:r>
            <a:r>
              <a:rPr lang="en-US" dirty="0"/>
              <a:t>/docs</a:t>
            </a:r>
          </a:p>
        </p:txBody>
      </p:sp>
      <p:sp>
        <p:nvSpPr>
          <p:cNvPr id="4" name="Slide Number Placeholder 3">
            <a:extLst>
              <a:ext uri="{FF2B5EF4-FFF2-40B4-BE49-F238E27FC236}">
                <a16:creationId xmlns:a16="http://schemas.microsoft.com/office/drawing/2014/main" id="{015EDDC1-59A5-1048-84D9-DA1D75372028}"/>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19</a:t>
            </a:fld>
            <a:endParaRPr lang="en-US">
              <a:solidFill>
                <a:prstClr val="black">
                  <a:tint val="75000"/>
                </a:prstClr>
              </a:solidFill>
              <a:latin typeface="Calibri"/>
            </a:endParaRPr>
          </a:p>
        </p:txBody>
      </p:sp>
    </p:spTree>
    <p:extLst>
      <p:ext uri="{BB962C8B-B14F-4D97-AF65-F5344CB8AC3E}">
        <p14:creationId xmlns:p14="http://schemas.microsoft.com/office/powerpoint/2010/main" val="254909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EE71A-BEC9-F3E8-498A-9DDD1E0D4E9D}"/>
              </a:ext>
            </a:extLst>
          </p:cNvPr>
          <p:cNvSpPr>
            <a:spLocks noGrp="1"/>
          </p:cNvSpPr>
          <p:nvPr>
            <p:ph type="title"/>
          </p:nvPr>
        </p:nvSpPr>
        <p:spPr/>
        <p:txBody>
          <a:bodyPr/>
          <a:lstStyle/>
          <a:p>
            <a:r>
              <a:rPr lang="en-US" dirty="0"/>
              <a:t>Try a few things</a:t>
            </a:r>
          </a:p>
        </p:txBody>
      </p:sp>
      <p:sp>
        <p:nvSpPr>
          <p:cNvPr id="3" name="Content Placeholder 2">
            <a:extLst>
              <a:ext uri="{FF2B5EF4-FFF2-40B4-BE49-F238E27FC236}">
                <a16:creationId xmlns:a16="http://schemas.microsoft.com/office/drawing/2014/main" id="{5062161C-DEB6-DCE1-667B-CAA0320852A5}"/>
              </a:ext>
            </a:extLst>
          </p:cNvPr>
          <p:cNvSpPr>
            <a:spLocks noGrp="1"/>
          </p:cNvSpPr>
          <p:nvPr>
            <p:ph idx="1"/>
          </p:nvPr>
        </p:nvSpPr>
        <p:spPr/>
        <p:txBody>
          <a:bodyPr/>
          <a:lstStyle/>
          <a:p>
            <a:r>
              <a:rPr lang="en-US" dirty="0"/>
              <a:t>Create a new repository on GitHub, clone it, add a file, edit the file, diff the file, add/commit/push to the new repository, review status, review logs, revert the change, push again. </a:t>
            </a:r>
          </a:p>
          <a:p>
            <a:endParaRPr lang="en-US" dirty="0"/>
          </a:p>
          <a:p>
            <a:r>
              <a:rPr lang="en-US" dirty="0"/>
              <a:t>Markdown files example</a:t>
            </a:r>
          </a:p>
          <a:p>
            <a:pPr marL="0" indent="0">
              <a:buNone/>
            </a:pPr>
            <a:endParaRPr lang="en-US" dirty="0"/>
          </a:p>
        </p:txBody>
      </p:sp>
      <p:sp>
        <p:nvSpPr>
          <p:cNvPr id="4" name="Slide Number Placeholder 3">
            <a:extLst>
              <a:ext uri="{FF2B5EF4-FFF2-40B4-BE49-F238E27FC236}">
                <a16:creationId xmlns:a16="http://schemas.microsoft.com/office/drawing/2014/main" id="{49ABC784-F34D-4010-05AA-55ABF7367D77}"/>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20</a:t>
            </a:fld>
            <a:endParaRPr lang="en-US">
              <a:solidFill>
                <a:prstClr val="black">
                  <a:tint val="75000"/>
                </a:prstClr>
              </a:solidFill>
              <a:latin typeface="Calibri"/>
            </a:endParaRPr>
          </a:p>
        </p:txBody>
      </p:sp>
    </p:spTree>
    <p:extLst>
      <p:ext uri="{BB962C8B-B14F-4D97-AF65-F5344CB8AC3E}">
        <p14:creationId xmlns:p14="http://schemas.microsoft.com/office/powerpoint/2010/main" val="1041446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6D86-2588-5A43-BA0F-0DE339DE28E2}"/>
              </a:ext>
            </a:extLst>
          </p:cNvPr>
          <p:cNvSpPr>
            <a:spLocks noGrp="1"/>
          </p:cNvSpPr>
          <p:nvPr>
            <p:ph type="title"/>
          </p:nvPr>
        </p:nvSpPr>
        <p:spPr/>
        <p:txBody>
          <a:bodyPr/>
          <a:lstStyle/>
          <a:p>
            <a:r>
              <a:rPr lang="en-US" dirty="0"/>
              <a:t>Adding your upstream remote</a:t>
            </a:r>
          </a:p>
        </p:txBody>
      </p:sp>
      <p:sp>
        <p:nvSpPr>
          <p:cNvPr id="3" name="Content Placeholder 2">
            <a:extLst>
              <a:ext uri="{FF2B5EF4-FFF2-40B4-BE49-F238E27FC236}">
                <a16:creationId xmlns:a16="http://schemas.microsoft.com/office/drawing/2014/main" id="{02F58216-D5A3-AF41-86A5-B52DEC4EAC80}"/>
              </a:ext>
            </a:extLst>
          </p:cNvPr>
          <p:cNvSpPr>
            <a:spLocks noGrp="1"/>
          </p:cNvSpPr>
          <p:nvPr>
            <p:ph idx="1"/>
          </p:nvPr>
        </p:nvSpPr>
        <p:spPr/>
        <p:txBody>
          <a:bodyPr>
            <a:normAutofit fontScale="55000" lnSpcReduction="20000"/>
          </a:bodyPr>
          <a:lstStyle/>
          <a:p>
            <a:pPr algn="l"/>
            <a:r>
              <a:rPr lang="en-US" b="0" i="0" dirty="0">
                <a:solidFill>
                  <a:srgbClr val="212529"/>
                </a:solidFill>
                <a:effectLst/>
                <a:latin typeface="inherit"/>
              </a:rPr>
              <a:t>git remote add origin </a:t>
            </a:r>
            <a:r>
              <a:rPr lang="en-US" b="0" i="0" dirty="0">
                <a:solidFill>
                  <a:srgbClr val="212529"/>
                </a:solidFill>
                <a:effectLst/>
                <a:latin typeface="inherit"/>
                <a:hlinkClick r:id="rId3"/>
              </a:rPr>
              <a:t>git@github.com:dmw2166/example2026.git</a:t>
            </a:r>
            <a:endParaRPr lang="en-US" b="0" i="0" dirty="0">
              <a:solidFill>
                <a:srgbClr val="212529"/>
              </a:solidFill>
              <a:effectLst/>
              <a:latin typeface="inherit"/>
            </a:endParaRPr>
          </a:p>
          <a:p>
            <a:pPr algn="l"/>
            <a:r>
              <a:rPr lang="en-US" dirty="0">
                <a:solidFill>
                  <a:srgbClr val="212529"/>
                </a:solidFill>
                <a:latin typeface="inherit"/>
              </a:rPr>
              <a:t>git push</a:t>
            </a:r>
          </a:p>
          <a:p>
            <a:pPr algn="l"/>
            <a:endParaRPr lang="en-US" dirty="0">
              <a:solidFill>
                <a:srgbClr val="212529"/>
              </a:solidFill>
              <a:latin typeface="inherit"/>
            </a:endParaRPr>
          </a:p>
          <a:p>
            <a:pPr algn="l"/>
            <a:r>
              <a:rPr lang="en-US" dirty="0">
                <a:solidFill>
                  <a:srgbClr val="212529"/>
                </a:solidFill>
                <a:latin typeface="inherit"/>
              </a:rPr>
              <a:t>Chances are these command won’t work so far</a:t>
            </a:r>
          </a:p>
          <a:p>
            <a:pPr algn="l"/>
            <a:endParaRPr lang="en-US" dirty="0">
              <a:solidFill>
                <a:srgbClr val="212529"/>
              </a:solidFill>
              <a:latin typeface="inherit"/>
            </a:endParaRPr>
          </a:p>
          <a:p>
            <a:pPr algn="l"/>
            <a:r>
              <a:rPr lang="en-US" dirty="0">
                <a:solidFill>
                  <a:srgbClr val="212529"/>
                </a:solidFill>
                <a:latin typeface="inherit"/>
              </a:rPr>
              <a:t>Need to generate SSH keys</a:t>
            </a:r>
          </a:p>
          <a:p>
            <a:pPr lvl="1"/>
            <a:r>
              <a:rPr lang="en-US" b="0" i="0" dirty="0" err="1">
                <a:solidFill>
                  <a:srgbClr val="000000"/>
                </a:solidFill>
                <a:effectLst/>
                <a:latin typeface="Source Code Pro" panose="020B0509030403020204" pitchFamily="49" charset="0"/>
              </a:rPr>
              <a:t>ssh</a:t>
            </a:r>
            <a:r>
              <a:rPr lang="en-US" b="0" i="0" dirty="0">
                <a:solidFill>
                  <a:srgbClr val="000000"/>
                </a:solidFill>
                <a:effectLst/>
                <a:latin typeface="Source Code Pro" panose="020B0509030403020204" pitchFamily="49" charset="0"/>
              </a:rPr>
              <a:t>-keygen -t </a:t>
            </a:r>
            <a:r>
              <a:rPr lang="en-US" b="0" i="0" dirty="0" err="1">
                <a:solidFill>
                  <a:srgbClr val="000000"/>
                </a:solidFill>
                <a:effectLst/>
                <a:latin typeface="Source Code Pro" panose="020B0509030403020204" pitchFamily="49" charset="0"/>
              </a:rPr>
              <a:t>rsa</a:t>
            </a:r>
            <a:r>
              <a:rPr lang="en-US" b="0" i="0" dirty="0">
                <a:solidFill>
                  <a:srgbClr val="000000"/>
                </a:solidFill>
                <a:effectLst/>
                <a:latin typeface="Source Code Pro" panose="020B0509030403020204" pitchFamily="49" charset="0"/>
              </a:rPr>
              <a:t> -b 4096 -C </a:t>
            </a:r>
            <a:r>
              <a:rPr lang="en-US" b="0" i="0" dirty="0">
                <a:solidFill>
                  <a:srgbClr val="20794D"/>
                </a:solidFill>
                <a:effectLst/>
                <a:latin typeface="inherit"/>
                <a:hlinkClick r:id="rId4"/>
              </a:rPr>
              <a:t>dmw2166@Columbia.edu</a:t>
            </a:r>
            <a:endParaRPr lang="en-US" b="0" i="0" dirty="0">
              <a:solidFill>
                <a:srgbClr val="20794D"/>
              </a:solidFill>
              <a:effectLst/>
              <a:latin typeface="inherit"/>
            </a:endParaRPr>
          </a:p>
          <a:p>
            <a:pPr marL="457200" lvl="1" indent="0">
              <a:buNone/>
            </a:pPr>
            <a:r>
              <a:rPr lang="en-US" b="0" i="0" dirty="0">
                <a:solidFill>
                  <a:srgbClr val="212529"/>
                </a:solidFill>
                <a:effectLst/>
                <a:latin typeface="Mulish"/>
              </a:rPr>
              <a:t>- Move the keys to your ~/.ssh/ hidden directory if they aren’t already there. </a:t>
            </a:r>
          </a:p>
          <a:p>
            <a:endParaRPr lang="en-US" dirty="0"/>
          </a:p>
          <a:p>
            <a:r>
              <a:rPr lang="en-US" dirty="0"/>
              <a:t>You should get some output to the screen. We can check the SSH keys worked</a:t>
            </a:r>
          </a:p>
          <a:p>
            <a:pPr lvl="1"/>
            <a:r>
              <a:rPr lang="en-US" dirty="0"/>
              <a:t>ls –al ~/.</a:t>
            </a:r>
            <a:r>
              <a:rPr lang="en-US" dirty="0" err="1"/>
              <a:t>ssh</a:t>
            </a:r>
            <a:endParaRPr lang="en-US" dirty="0"/>
          </a:p>
          <a:p>
            <a:endParaRPr lang="en-US" dirty="0"/>
          </a:p>
          <a:p>
            <a:r>
              <a:rPr lang="en-US" dirty="0"/>
              <a:t>And then we need to give GitHub our public key</a:t>
            </a:r>
          </a:p>
          <a:p>
            <a:pPr lvl="1"/>
            <a:r>
              <a:rPr lang="en-US" dirty="0"/>
              <a:t>cat ~/.</a:t>
            </a:r>
            <a:r>
              <a:rPr lang="en-US" dirty="0" err="1"/>
              <a:t>ssh</a:t>
            </a:r>
            <a:r>
              <a:rPr lang="en-US" dirty="0"/>
              <a:t>/</a:t>
            </a:r>
            <a:r>
              <a:rPr lang="en-US" dirty="0" err="1"/>
              <a:t>id_rsa_github.pub</a:t>
            </a:r>
            <a:endParaRPr lang="en-US" dirty="0"/>
          </a:p>
          <a:p>
            <a:pPr algn="l"/>
            <a:r>
              <a:rPr lang="en-US" dirty="0"/>
              <a:t>Output looks something like this: </a:t>
            </a:r>
            <a:r>
              <a:rPr lang="en-US" b="0" i="0" dirty="0" err="1">
                <a:solidFill>
                  <a:srgbClr val="212529"/>
                </a:solidFill>
                <a:effectLst/>
                <a:latin typeface="Mulish"/>
              </a:rPr>
              <a:t>ssh-rsa</a:t>
            </a:r>
            <a:r>
              <a:rPr lang="en-US" b="0" i="0" dirty="0">
                <a:solidFill>
                  <a:srgbClr val="212529"/>
                </a:solidFill>
                <a:effectLst/>
                <a:latin typeface="Mulish"/>
              </a:rPr>
              <a:t> AAAAC3NzaC1lZDI1NTE5AAAAIDmRA3d51X0uu9wXek559gfn6UFNF69yZjChyBIU2qKI dmw2166@Columbia.edu</a:t>
            </a:r>
          </a:p>
          <a:p>
            <a:pPr marL="0" indent="0">
              <a:buNone/>
            </a:pPr>
            <a:br>
              <a:rPr lang="en-US" dirty="0"/>
            </a:br>
            <a:endParaRPr lang="en-US" dirty="0">
              <a:solidFill>
                <a:srgbClr val="212529"/>
              </a:solidFill>
              <a:latin typeface="inherit"/>
            </a:endParaRPr>
          </a:p>
          <a:p>
            <a:pPr algn="l"/>
            <a:r>
              <a:rPr lang="en-US" b="0" i="0" dirty="0">
                <a:solidFill>
                  <a:srgbClr val="212529"/>
                </a:solidFill>
                <a:effectLst/>
                <a:latin typeface="Mulish"/>
              </a:rPr>
              <a:t>Go to </a:t>
            </a:r>
            <a:r>
              <a:rPr lang="en-US" b="0" i="0" dirty="0" err="1">
                <a:solidFill>
                  <a:srgbClr val="212529"/>
                </a:solidFill>
                <a:effectLst/>
                <a:latin typeface="Mulish"/>
              </a:rPr>
              <a:t>github.com</a:t>
            </a:r>
            <a:r>
              <a:rPr lang="en-US" dirty="0">
                <a:solidFill>
                  <a:srgbClr val="212529"/>
                </a:solidFill>
                <a:latin typeface="Mulish"/>
              </a:rPr>
              <a:t>, login, and under settings look for “SSH and GPG keys”. Create a new SSH key and paste in the output above</a:t>
            </a:r>
            <a:endParaRPr lang="en-US" b="0" i="0" dirty="0">
              <a:solidFill>
                <a:srgbClr val="212529"/>
              </a:solidFill>
              <a:effectLst/>
              <a:latin typeface="Mulish"/>
            </a:endParaRPr>
          </a:p>
          <a:p>
            <a:endParaRPr lang="en-US" dirty="0"/>
          </a:p>
        </p:txBody>
      </p:sp>
      <p:sp>
        <p:nvSpPr>
          <p:cNvPr id="4" name="Slide Number Placeholder 3">
            <a:extLst>
              <a:ext uri="{FF2B5EF4-FFF2-40B4-BE49-F238E27FC236}">
                <a16:creationId xmlns:a16="http://schemas.microsoft.com/office/drawing/2014/main" id="{DC364A19-97BB-A742-BCD1-305379B91485}"/>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21</a:t>
            </a:fld>
            <a:endParaRPr lang="en-US">
              <a:solidFill>
                <a:prstClr val="black">
                  <a:tint val="75000"/>
                </a:prstClr>
              </a:solidFill>
              <a:latin typeface="Calibri"/>
            </a:endParaRPr>
          </a:p>
        </p:txBody>
      </p:sp>
    </p:spTree>
    <p:extLst>
      <p:ext uri="{BB962C8B-B14F-4D97-AF65-F5344CB8AC3E}">
        <p14:creationId xmlns:p14="http://schemas.microsoft.com/office/powerpoint/2010/main" val="2585909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F5575-A27C-8A43-A430-91482AD9F304}"/>
              </a:ext>
            </a:extLst>
          </p:cNvPr>
          <p:cNvSpPr>
            <a:spLocks noGrp="1"/>
          </p:cNvSpPr>
          <p:nvPr>
            <p:ph type="title"/>
          </p:nvPr>
        </p:nvSpPr>
        <p:spPr/>
        <p:txBody>
          <a:bodyPr/>
          <a:lstStyle/>
          <a:p>
            <a:r>
              <a:rPr lang="en-US" dirty="0"/>
              <a:t>Basic git workflow</a:t>
            </a:r>
          </a:p>
        </p:txBody>
      </p:sp>
      <p:sp>
        <p:nvSpPr>
          <p:cNvPr id="3" name="Content Placeholder 2">
            <a:extLst>
              <a:ext uri="{FF2B5EF4-FFF2-40B4-BE49-F238E27FC236}">
                <a16:creationId xmlns:a16="http://schemas.microsoft.com/office/drawing/2014/main" id="{C978609C-617D-4A42-AA9C-C125A8D8FAE2}"/>
              </a:ext>
            </a:extLst>
          </p:cNvPr>
          <p:cNvSpPr>
            <a:spLocks noGrp="1"/>
          </p:cNvSpPr>
          <p:nvPr>
            <p:ph idx="1"/>
          </p:nvPr>
        </p:nvSpPr>
        <p:spPr/>
        <p:txBody>
          <a:bodyPr>
            <a:normAutofit fontScale="55000" lnSpcReduction="20000"/>
          </a:bodyPr>
          <a:lstStyle/>
          <a:p>
            <a:pPr marL="0" indent="0">
              <a:buNone/>
            </a:pPr>
            <a:r>
              <a:rPr lang="en-US" b="1" i="0" dirty="0" err="1">
                <a:solidFill>
                  <a:srgbClr val="000000"/>
                </a:solidFill>
                <a:effectLst/>
                <a:latin typeface="Montserrat" pitchFamily="2" charset="77"/>
              </a:rPr>
              <a:t>Activiate</a:t>
            </a:r>
            <a:r>
              <a:rPr lang="en-US" b="1" i="0" dirty="0">
                <a:solidFill>
                  <a:srgbClr val="000000"/>
                </a:solidFill>
                <a:effectLst/>
                <a:latin typeface="Montserrat" pitchFamily="2" charset="77"/>
              </a:rPr>
              <a:t> your ssh keys</a:t>
            </a:r>
          </a:p>
          <a:p>
            <a:pPr lvl="1"/>
            <a:r>
              <a:rPr lang="en-US" b="1" dirty="0">
                <a:solidFill>
                  <a:srgbClr val="000000"/>
                </a:solidFill>
                <a:latin typeface="Montserrat" pitchFamily="2" charset="77"/>
              </a:rPr>
              <a:t>Eval $(ssh-agent) </a:t>
            </a:r>
          </a:p>
          <a:p>
            <a:pPr lvl="1"/>
            <a:r>
              <a:rPr lang="en-US" b="1" i="0" dirty="0">
                <a:solidFill>
                  <a:srgbClr val="000000"/>
                </a:solidFill>
                <a:effectLst/>
                <a:latin typeface="Montserrat" pitchFamily="2" charset="77"/>
              </a:rPr>
              <a:t>Ssh-add /home/</a:t>
            </a:r>
            <a:r>
              <a:rPr lang="en-US" b="1" i="0" dirty="0" err="1">
                <a:solidFill>
                  <a:srgbClr val="000000"/>
                </a:solidFill>
                <a:effectLst/>
                <a:latin typeface="Montserrat" pitchFamily="2" charset="77"/>
              </a:rPr>
              <a:t>danielmw</a:t>
            </a:r>
            <a:r>
              <a:rPr lang="en-US" b="1" i="0" dirty="0">
                <a:solidFill>
                  <a:srgbClr val="000000"/>
                </a:solidFill>
                <a:effectLst/>
                <a:latin typeface="Montserrat" pitchFamily="2" charset="77"/>
              </a:rPr>
              <a:t>/</a:t>
            </a:r>
            <a:r>
              <a:rPr lang="en-US" b="1" dirty="0">
                <a:solidFill>
                  <a:srgbClr val="000000"/>
                </a:solidFill>
                <a:latin typeface="Montserrat" pitchFamily="2" charset="77"/>
              </a:rPr>
              <a:t>.ssh/github_example2026</a:t>
            </a:r>
            <a:endParaRPr lang="en-US" b="0" i="0" dirty="0">
              <a:solidFill>
                <a:srgbClr val="000000"/>
              </a:solidFill>
              <a:effectLst/>
              <a:latin typeface="Source Sans Pro" panose="020B0503030403020204" pitchFamily="34" charset="0"/>
            </a:endParaRPr>
          </a:p>
          <a:p>
            <a:pPr marL="0" indent="0" algn="l">
              <a:buNone/>
            </a:pPr>
            <a:endParaRPr lang="en-US" b="1" i="0" dirty="0">
              <a:solidFill>
                <a:srgbClr val="000000"/>
              </a:solidFill>
              <a:effectLst/>
              <a:latin typeface="Montserrat" pitchFamily="2" charset="77"/>
            </a:endParaRPr>
          </a:p>
          <a:p>
            <a:pPr marL="0" indent="0" algn="l">
              <a:buNone/>
            </a:pPr>
            <a:endParaRPr lang="en-US" b="1" i="0" dirty="0">
              <a:solidFill>
                <a:srgbClr val="000000"/>
              </a:solidFill>
              <a:effectLst/>
              <a:latin typeface="Montserrat" pitchFamily="2" charset="77"/>
            </a:endParaRPr>
          </a:p>
          <a:p>
            <a:pPr marL="0" indent="0" algn="l">
              <a:buNone/>
            </a:pPr>
            <a:r>
              <a:rPr lang="en-US" b="1" i="0" dirty="0">
                <a:solidFill>
                  <a:srgbClr val="000000"/>
                </a:solidFill>
                <a:effectLst/>
                <a:latin typeface="Montserrat" pitchFamily="2" charset="77"/>
              </a:rPr>
              <a:t>Clone the repository</a:t>
            </a:r>
            <a:endParaRPr lang="en-US" b="0" i="0" dirty="0">
              <a:solidFill>
                <a:srgbClr val="000000"/>
              </a:solidFill>
              <a:effectLst/>
              <a:latin typeface="Source Sans Pro" panose="020B0503030403020204" pitchFamily="34" charset="0"/>
            </a:endParaRPr>
          </a:p>
          <a:p>
            <a:r>
              <a:rPr lang="en-US" dirty="0">
                <a:effectLst/>
                <a:latin typeface=""/>
              </a:rPr>
              <a:t>git </a:t>
            </a:r>
            <a:r>
              <a:rPr lang="en-US" dirty="0">
                <a:solidFill>
                  <a:srgbClr val="0086B3"/>
                </a:solidFill>
                <a:effectLst/>
                <a:latin typeface=""/>
              </a:rPr>
              <a:t>clone</a:t>
            </a:r>
            <a:r>
              <a:rPr lang="en-US" dirty="0">
                <a:effectLst/>
                <a:latin typeface=""/>
              </a:rPr>
              <a:t> git@github.com:dmw2166/example2026.git</a:t>
            </a:r>
          </a:p>
          <a:p>
            <a:r>
              <a:rPr lang="en-US" dirty="0">
                <a:latin typeface=""/>
              </a:rPr>
              <a:t>or “git </a:t>
            </a:r>
            <a:r>
              <a:rPr lang="en-US" dirty="0" err="1">
                <a:latin typeface=""/>
              </a:rPr>
              <a:t>init</a:t>
            </a:r>
            <a:r>
              <a:rPr lang="en-US" dirty="0">
                <a:latin typeface=""/>
              </a:rPr>
              <a:t>” in an existing directory on your local machine</a:t>
            </a:r>
            <a:endParaRPr lang="en-US" dirty="0">
              <a:effectLst/>
              <a:latin typeface=""/>
            </a:endParaRPr>
          </a:p>
          <a:p>
            <a:pPr marL="0" indent="0" algn="l">
              <a:buNone/>
            </a:pPr>
            <a:endParaRPr lang="en-US" b="1" i="0" dirty="0">
              <a:solidFill>
                <a:srgbClr val="000000"/>
              </a:solidFill>
              <a:effectLst/>
              <a:latin typeface="Montserrat" pitchFamily="2" charset="77"/>
            </a:endParaRPr>
          </a:p>
          <a:p>
            <a:pPr marL="0" indent="0" algn="l">
              <a:buNone/>
            </a:pPr>
            <a:r>
              <a:rPr lang="en-US" b="1" i="0" dirty="0">
                <a:solidFill>
                  <a:srgbClr val="000000"/>
                </a:solidFill>
                <a:effectLst/>
                <a:latin typeface="Montserrat" pitchFamily="2" charset="77"/>
              </a:rPr>
              <a:t>Stage your files</a:t>
            </a:r>
            <a:endParaRPr lang="en-US" b="0" i="0" dirty="0">
              <a:solidFill>
                <a:srgbClr val="000000"/>
              </a:solidFill>
              <a:effectLst/>
              <a:latin typeface="Source Sans Pro" panose="020B0503030403020204" pitchFamily="34" charset="0"/>
            </a:endParaRPr>
          </a:p>
          <a:p>
            <a:r>
              <a:rPr lang="en-US" dirty="0">
                <a:effectLst/>
              </a:rPr>
              <a:t>git add .</a:t>
            </a:r>
          </a:p>
          <a:p>
            <a:pPr marL="0" indent="0" algn="l">
              <a:buNone/>
            </a:pPr>
            <a:endParaRPr lang="en-US" b="1" i="0" dirty="0">
              <a:solidFill>
                <a:srgbClr val="000000"/>
              </a:solidFill>
              <a:effectLst/>
              <a:latin typeface="Montserrat" pitchFamily="2" charset="77"/>
            </a:endParaRPr>
          </a:p>
          <a:p>
            <a:pPr marL="0" indent="0" algn="l">
              <a:buNone/>
            </a:pPr>
            <a:r>
              <a:rPr lang="en-US" b="1" i="0" dirty="0">
                <a:solidFill>
                  <a:srgbClr val="000000"/>
                </a:solidFill>
                <a:effectLst/>
                <a:latin typeface="Montserrat" pitchFamily="2" charset="77"/>
              </a:rPr>
              <a:t>Commit your changes</a:t>
            </a:r>
            <a:endParaRPr lang="en-US" b="0" i="0" dirty="0">
              <a:solidFill>
                <a:srgbClr val="000000"/>
              </a:solidFill>
              <a:effectLst/>
              <a:latin typeface="Source Sans Pro" panose="020B0503030403020204" pitchFamily="34" charset="0"/>
            </a:endParaRPr>
          </a:p>
          <a:p>
            <a:r>
              <a:rPr lang="en-US" dirty="0">
                <a:effectLst/>
              </a:rPr>
              <a:t>git commit -m </a:t>
            </a:r>
            <a:r>
              <a:rPr lang="en-US" dirty="0">
                <a:solidFill>
                  <a:srgbClr val="DD1144"/>
                </a:solidFill>
                <a:effectLst/>
              </a:rPr>
              <a:t>"Add example code”</a:t>
            </a:r>
          </a:p>
          <a:p>
            <a:pPr algn="l"/>
            <a:endParaRPr lang="en-US" dirty="0">
              <a:solidFill>
                <a:srgbClr val="24292F"/>
              </a:solidFill>
              <a:latin typeface="-apple-system"/>
            </a:endParaRPr>
          </a:p>
          <a:p>
            <a:pPr marL="0" indent="0">
              <a:buNone/>
            </a:pPr>
            <a:r>
              <a:rPr lang="en-US" b="1" i="0" dirty="0">
                <a:solidFill>
                  <a:srgbClr val="24292F"/>
                </a:solidFill>
                <a:effectLst/>
                <a:latin typeface="-apple-system"/>
              </a:rPr>
              <a:t>Connect your local repository to your remote one (on </a:t>
            </a:r>
            <a:r>
              <a:rPr lang="en-US" b="1" i="0" dirty="0" err="1">
                <a:solidFill>
                  <a:srgbClr val="24292F"/>
                </a:solidFill>
                <a:effectLst/>
                <a:latin typeface="-apple-system"/>
              </a:rPr>
              <a:t>github.com</a:t>
            </a:r>
            <a:r>
              <a:rPr lang="en-US" b="1" i="0" dirty="0">
                <a:solidFill>
                  <a:srgbClr val="24292F"/>
                </a:solidFill>
                <a:effectLst/>
                <a:latin typeface="-apple-system"/>
              </a:rPr>
              <a:t>)</a:t>
            </a:r>
          </a:p>
          <a:p>
            <a:r>
              <a:rPr lang="en-US" dirty="0"/>
              <a:t>git remote set-</a:t>
            </a:r>
            <a:r>
              <a:rPr lang="en-US" dirty="0" err="1"/>
              <a:t>url</a:t>
            </a:r>
            <a:r>
              <a:rPr lang="en-US" dirty="0"/>
              <a:t> origin </a:t>
            </a:r>
            <a:r>
              <a:rPr lang="en-US" dirty="0" err="1"/>
              <a:t>git@github.com:username</a:t>
            </a:r>
            <a:r>
              <a:rPr lang="en-US" dirty="0"/>
              <a:t>/</a:t>
            </a:r>
            <a:r>
              <a:rPr lang="en-US" dirty="0" err="1"/>
              <a:t>repo.git</a:t>
            </a:r>
            <a:r>
              <a:rPr lang="en-US" dirty="0"/>
              <a:t> </a:t>
            </a:r>
          </a:p>
          <a:p>
            <a:pPr lvl="1"/>
            <a:r>
              <a:rPr lang="en-US" b="0" i="0" dirty="0">
                <a:solidFill>
                  <a:srgbClr val="24292F"/>
                </a:solidFill>
                <a:effectLst/>
                <a:latin typeface="-apple-system"/>
              </a:rPr>
              <a:t>Assuming the remote and local already exist. </a:t>
            </a:r>
          </a:p>
          <a:p>
            <a:pPr marL="0" indent="0" algn="l">
              <a:buNone/>
            </a:pPr>
            <a:br>
              <a:rPr lang="en-US" dirty="0"/>
            </a:br>
            <a:endParaRPr lang="en-US" dirty="0">
              <a:effectLst/>
            </a:endParaRPr>
          </a:p>
          <a:p>
            <a:pPr algn="l"/>
            <a:r>
              <a:rPr lang="en-US" b="1" i="0" dirty="0">
                <a:solidFill>
                  <a:srgbClr val="000000"/>
                </a:solidFill>
                <a:effectLst/>
                <a:latin typeface="Montserrat" pitchFamily="2" charset="77"/>
              </a:rPr>
              <a:t>Push your changes</a:t>
            </a:r>
            <a:endParaRPr lang="en-US" b="0" i="0" dirty="0">
              <a:solidFill>
                <a:srgbClr val="000000"/>
              </a:solidFill>
              <a:effectLst/>
              <a:latin typeface="Source Sans Pro" panose="020B0503030403020204" pitchFamily="34" charset="0"/>
            </a:endParaRPr>
          </a:p>
          <a:p>
            <a:r>
              <a:rPr lang="en-US" dirty="0">
                <a:effectLst/>
              </a:rPr>
              <a:t>git push –u origin main</a:t>
            </a:r>
          </a:p>
        </p:txBody>
      </p:sp>
      <p:sp>
        <p:nvSpPr>
          <p:cNvPr id="4" name="Slide Number Placeholder 3">
            <a:extLst>
              <a:ext uri="{FF2B5EF4-FFF2-40B4-BE49-F238E27FC236}">
                <a16:creationId xmlns:a16="http://schemas.microsoft.com/office/drawing/2014/main" id="{2E138BC0-DD72-8349-A667-E4A3595E7E64}"/>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22</a:t>
            </a:fld>
            <a:endParaRPr lang="en-US">
              <a:solidFill>
                <a:prstClr val="black">
                  <a:tint val="75000"/>
                </a:prstClr>
              </a:solidFill>
              <a:latin typeface="Calibri"/>
            </a:endParaRPr>
          </a:p>
        </p:txBody>
      </p:sp>
    </p:spTree>
    <p:extLst>
      <p:ext uri="{BB962C8B-B14F-4D97-AF65-F5344CB8AC3E}">
        <p14:creationId xmlns:p14="http://schemas.microsoft.com/office/powerpoint/2010/main" val="663759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1C31-0DDE-7D0F-E579-6A000733AABE}"/>
              </a:ext>
            </a:extLst>
          </p:cNvPr>
          <p:cNvSpPr>
            <a:spLocks noGrp="1"/>
          </p:cNvSpPr>
          <p:nvPr>
            <p:ph type="title"/>
          </p:nvPr>
        </p:nvSpPr>
        <p:spPr/>
        <p:txBody>
          <a:bodyPr/>
          <a:lstStyle/>
          <a:p>
            <a:r>
              <a:rPr lang="en-US" dirty="0"/>
              <a:t>Markdown</a:t>
            </a:r>
          </a:p>
        </p:txBody>
      </p:sp>
      <p:sp>
        <p:nvSpPr>
          <p:cNvPr id="3" name="Content Placeholder 2">
            <a:extLst>
              <a:ext uri="{FF2B5EF4-FFF2-40B4-BE49-F238E27FC236}">
                <a16:creationId xmlns:a16="http://schemas.microsoft.com/office/drawing/2014/main" id="{9291A157-0323-304A-4FD7-CEEDBA9163F3}"/>
              </a:ext>
            </a:extLst>
          </p:cNvPr>
          <p:cNvSpPr>
            <a:spLocks noGrp="1"/>
          </p:cNvSpPr>
          <p:nvPr>
            <p:ph idx="1"/>
          </p:nvPr>
        </p:nvSpPr>
        <p:spPr/>
        <p:txBody>
          <a:bodyPr/>
          <a:lstStyle/>
          <a:p>
            <a:r>
              <a:rPr lang="en-US" dirty="0"/>
              <a:t>https://</a:t>
            </a:r>
            <a:r>
              <a:rPr lang="en-US" dirty="0" err="1"/>
              <a:t>www.markdownguide.org</a:t>
            </a:r>
            <a:r>
              <a:rPr lang="en-US" dirty="0"/>
              <a:t>/basic-syntax/</a:t>
            </a:r>
          </a:p>
        </p:txBody>
      </p:sp>
      <p:sp>
        <p:nvSpPr>
          <p:cNvPr id="4" name="Slide Number Placeholder 3">
            <a:extLst>
              <a:ext uri="{FF2B5EF4-FFF2-40B4-BE49-F238E27FC236}">
                <a16:creationId xmlns:a16="http://schemas.microsoft.com/office/drawing/2014/main" id="{9CAF54DD-6EC5-DBFF-CAF3-B619CB7CDF02}"/>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23</a:t>
            </a:fld>
            <a:endParaRPr lang="en-US">
              <a:solidFill>
                <a:prstClr val="black">
                  <a:tint val="75000"/>
                </a:prstClr>
              </a:solidFill>
              <a:latin typeface="Calibri"/>
            </a:endParaRPr>
          </a:p>
        </p:txBody>
      </p:sp>
    </p:spTree>
    <p:extLst>
      <p:ext uri="{BB962C8B-B14F-4D97-AF65-F5344CB8AC3E}">
        <p14:creationId xmlns:p14="http://schemas.microsoft.com/office/powerpoint/2010/main" val="1842885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074F-DB13-56D1-B3C5-264261B2B9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BB585B-4169-37F0-6E3B-E1FCE76B1EB3}"/>
              </a:ext>
            </a:extLst>
          </p:cNvPr>
          <p:cNvSpPr>
            <a:spLocks noGrp="1"/>
          </p:cNvSpPr>
          <p:nvPr>
            <p:ph idx="1"/>
          </p:nvPr>
        </p:nvSpPr>
        <p:spPr/>
        <p:txBody>
          <a:bodyPr/>
          <a:lstStyle/>
          <a:p>
            <a:r>
              <a:rPr lang="en-US" dirty="0"/>
              <a:t>Work on Assignment 1</a:t>
            </a:r>
          </a:p>
          <a:p>
            <a:pPr lvl="1"/>
            <a:r>
              <a:rPr lang="en-US" dirty="0"/>
              <a:t>Practice with git and </a:t>
            </a:r>
            <a:r>
              <a:rPr lang="en-US" dirty="0" err="1"/>
              <a:t>github</a:t>
            </a:r>
            <a:r>
              <a:rPr lang="en-US" dirty="0"/>
              <a:t> by creating a markdown file of a simple resumé</a:t>
            </a:r>
          </a:p>
          <a:p>
            <a:pPr lvl="1"/>
            <a:r>
              <a:rPr lang="en-US" dirty="0"/>
              <a:t>Connect your remote assignments repo (created in last week’s homework) to your directory on </a:t>
            </a:r>
            <a:r>
              <a:rPr lang="en-US" dirty="0" err="1"/>
              <a:t>chopin</a:t>
            </a:r>
            <a:r>
              <a:rPr lang="en-US" dirty="0"/>
              <a:t> and confirm you can push something</a:t>
            </a:r>
          </a:p>
          <a:p>
            <a:endParaRPr lang="en-US" dirty="0"/>
          </a:p>
          <a:p>
            <a:endParaRPr lang="en-US" dirty="0"/>
          </a:p>
        </p:txBody>
      </p:sp>
      <p:sp>
        <p:nvSpPr>
          <p:cNvPr id="4" name="Slide Number Placeholder 3">
            <a:extLst>
              <a:ext uri="{FF2B5EF4-FFF2-40B4-BE49-F238E27FC236}">
                <a16:creationId xmlns:a16="http://schemas.microsoft.com/office/drawing/2014/main" id="{929DC5E5-6529-AC59-17DE-9241C9F02657}"/>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24</a:t>
            </a:fld>
            <a:endParaRPr lang="en-US">
              <a:solidFill>
                <a:prstClr val="black">
                  <a:tint val="75000"/>
                </a:prstClr>
              </a:solidFill>
              <a:latin typeface="Calibri"/>
            </a:endParaRPr>
          </a:p>
        </p:txBody>
      </p:sp>
    </p:spTree>
    <p:extLst>
      <p:ext uri="{BB962C8B-B14F-4D97-AF65-F5344CB8AC3E}">
        <p14:creationId xmlns:p14="http://schemas.microsoft.com/office/powerpoint/2010/main" val="83535145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119276</TotalTime>
  <Words>1621</Words>
  <Application>Microsoft Macintosh PowerPoint</Application>
  <PresentationFormat>Widescreen</PresentationFormat>
  <Paragraphs>176</Paragraphs>
  <Slides>24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-apple-system</vt:lpstr>
      <vt:lpstr>Arial</vt:lpstr>
      <vt:lpstr>Calibri</vt:lpstr>
      <vt:lpstr>inherit</vt:lpstr>
      <vt:lpstr>Montserrat</vt:lpstr>
      <vt:lpstr>Mulish</vt:lpstr>
      <vt:lpstr>Source Code Pro</vt:lpstr>
      <vt:lpstr>Source Sans Pro</vt:lpstr>
      <vt:lpstr>1_Office Theme</vt:lpstr>
      <vt:lpstr>PowerPoint Presentation</vt:lpstr>
      <vt:lpstr>Git and github</vt:lpstr>
      <vt:lpstr>Why use git(hub)? </vt:lpstr>
      <vt:lpstr>Github provides a platform for open source</vt:lpstr>
      <vt:lpstr>Github readme</vt:lpstr>
      <vt:lpstr>Setting up git environment</vt:lpstr>
      <vt:lpstr>Basic git workflow</vt:lpstr>
      <vt:lpstr>Basic git commands (from the docs)</vt:lpstr>
      <vt:lpstr>Local and remote workflow</vt:lpstr>
      <vt:lpstr>Other git essentials</vt:lpstr>
      <vt:lpstr>Other git essentials</vt:lpstr>
      <vt:lpstr>Other git essentials</vt:lpstr>
      <vt:lpstr>Other git essentials</vt:lpstr>
      <vt:lpstr>Other git essentials</vt:lpstr>
      <vt:lpstr>Adding and ignoring files</vt:lpstr>
      <vt:lpstr>Undoing mistakes!</vt:lpstr>
      <vt:lpstr>Undoing mistakes!</vt:lpstr>
      <vt:lpstr>Lecture notes will be pushed to this repository</vt:lpstr>
      <vt:lpstr>Resources</vt:lpstr>
      <vt:lpstr>Try a few things</vt:lpstr>
      <vt:lpstr>Adding your upstream remote</vt:lpstr>
      <vt:lpstr>Basic git workflow</vt:lpstr>
      <vt:lpstr>Markdown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pollution data is sparse in sub-Saharan Africa</dc:title>
  <dc:creator>Dan Westervelt</dc:creator>
  <cp:lastModifiedBy>danielmw@ldeo.columbia.edu</cp:lastModifiedBy>
  <cp:revision>298</cp:revision>
  <cp:lastPrinted>2023-01-13T19:49:53Z</cp:lastPrinted>
  <dcterms:created xsi:type="dcterms:W3CDTF">2020-09-02T00:44:20Z</dcterms:created>
  <dcterms:modified xsi:type="dcterms:W3CDTF">2026-01-27T15:59:49Z</dcterms:modified>
</cp:coreProperties>
</file>