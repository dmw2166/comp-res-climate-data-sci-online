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1151" r:id="rId2"/>
    <p:sldId id="1182" r:id="rId3"/>
    <p:sldId id="381" r:id="rId4"/>
    <p:sldId id="1154" r:id="rId5"/>
    <p:sldId id="1155" r:id="rId6"/>
    <p:sldId id="1156" r:id="rId7"/>
    <p:sldId id="1157" r:id="rId8"/>
    <p:sldId id="1158" r:id="rId9"/>
    <p:sldId id="1159" r:id="rId10"/>
    <p:sldId id="1160" r:id="rId11"/>
    <p:sldId id="1161" r:id="rId12"/>
    <p:sldId id="1163" r:id="rId13"/>
    <p:sldId id="1164" r:id="rId14"/>
    <p:sldId id="1179" r:id="rId15"/>
    <p:sldId id="1180" r:id="rId16"/>
    <p:sldId id="1167" r:id="rId17"/>
    <p:sldId id="1178" r:id="rId18"/>
    <p:sldId id="1165" r:id="rId19"/>
    <p:sldId id="1168" r:id="rId20"/>
    <p:sldId id="1170" r:id="rId21"/>
    <p:sldId id="1171" r:id="rId22"/>
    <p:sldId id="1183" r:id="rId23"/>
    <p:sldId id="1172" r:id="rId24"/>
    <p:sldId id="1173" r:id="rId25"/>
    <p:sldId id="1176" r:id="rId26"/>
    <p:sldId id="11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8"/>
    <p:restoredTop sz="90612"/>
  </p:normalViewPr>
  <p:slideViewPr>
    <p:cSldViewPr snapToGrid="0" snapToObjects="1">
      <p:cViewPr varScale="1">
        <p:scale>
          <a:sx n="115" d="100"/>
          <a:sy n="115" d="100"/>
        </p:scale>
        <p:origin x="328" y="208"/>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62E87B-7E66-854D-917D-8E1AC8A1FF55}" type="datetimeFigureOut">
              <a:rPr lang="en-US" smtClean="0"/>
              <a:t>12/29/25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07CE7D-8D58-3941-8E2D-16BA24A2676D}" type="slidenum">
              <a:rPr lang="en-US" smtClean="0"/>
              <a:t>‹#›</a:t>
            </a:fld>
            <a:endParaRPr lang="en-US"/>
          </a:p>
        </p:txBody>
      </p:sp>
    </p:spTree>
    <p:extLst>
      <p:ext uri="{BB962C8B-B14F-4D97-AF65-F5344CB8AC3E}">
        <p14:creationId xmlns:p14="http://schemas.microsoft.com/office/powerpoint/2010/main" val="1762181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2328"/>
                </a:solidFill>
                <a:effectLst/>
                <a:latin typeface="-apple-system"/>
              </a:rPr>
              <a:t>A pull request is a proposal to merge a set of changes from one branch into another. In a pull request, collaborators can review and discuss the proposed set of changes before they integrate the changes into the main codebase. Pull requests display the differences, or diffs, between the content in the source branch and the content in the target branch.</a:t>
            </a:r>
            <a:endParaRPr lang="en-US" dirty="0"/>
          </a:p>
        </p:txBody>
      </p:sp>
      <p:sp>
        <p:nvSpPr>
          <p:cNvPr id="4" name="Slide Number Placeholder 3"/>
          <p:cNvSpPr>
            <a:spLocks noGrp="1"/>
          </p:cNvSpPr>
          <p:nvPr>
            <p:ph type="sldNum" sz="quarter" idx="5"/>
          </p:nvPr>
        </p:nvSpPr>
        <p:spPr/>
        <p:txBody>
          <a:bodyPr/>
          <a:lstStyle/>
          <a:p>
            <a:fld id="{D507CE7D-8D58-3941-8E2D-16BA24A2676D}" type="slidenum">
              <a:rPr lang="en-US" smtClean="0"/>
              <a:t>10</a:t>
            </a:fld>
            <a:endParaRPr lang="en-US"/>
          </a:p>
        </p:txBody>
      </p:sp>
    </p:spTree>
    <p:extLst>
      <p:ext uri="{BB962C8B-B14F-4D97-AF65-F5344CB8AC3E}">
        <p14:creationId xmlns:p14="http://schemas.microsoft.com/office/powerpoint/2010/main" val="2204005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US" b="0" i="0" dirty="0">
                <a:solidFill>
                  <a:srgbClr val="0A0A23"/>
                </a:solidFill>
                <a:effectLst/>
                <a:latin typeface="inherit"/>
              </a:rPr>
              <a:t>Badges: Continuous integration: passing means the code that has been tested passes</a:t>
            </a:r>
          </a:p>
          <a:p>
            <a:pPr algn="l" fontAlgn="base">
              <a:buFont typeface="Arial" panose="020B0604020202020204" pitchFamily="34" charset="0"/>
              <a:buChar char="•"/>
            </a:pPr>
            <a:r>
              <a:rPr lang="en-US" b="0" i="0" dirty="0" err="1">
                <a:solidFill>
                  <a:srgbClr val="0A0A23"/>
                </a:solidFill>
                <a:effectLst/>
                <a:latin typeface="inherit"/>
              </a:rPr>
              <a:t>Codecov</a:t>
            </a:r>
            <a:r>
              <a:rPr lang="en-US" b="0" i="0" dirty="0">
                <a:solidFill>
                  <a:srgbClr val="0A0A23"/>
                </a:solidFill>
                <a:effectLst/>
                <a:latin typeface="inherit"/>
              </a:rPr>
              <a:t>: percentage of code that has been tested. Less than 100% means there’s a chance for bugs in the untested code</a:t>
            </a:r>
          </a:p>
          <a:p>
            <a:pPr algn="l" fontAlgn="base">
              <a:buFont typeface="Arial" panose="020B0604020202020204" pitchFamily="34" charset="0"/>
              <a:buChar char="•"/>
            </a:pPr>
            <a:r>
              <a:rPr lang="en-US" b="0" i="0" dirty="0" err="1">
                <a:solidFill>
                  <a:srgbClr val="0A0A23"/>
                </a:solidFill>
                <a:effectLst/>
                <a:latin typeface="inherit"/>
              </a:rPr>
              <a:t>Bencharked</a:t>
            </a:r>
            <a:r>
              <a:rPr lang="en-US" b="0" i="0" dirty="0">
                <a:solidFill>
                  <a:srgbClr val="0A0A23"/>
                </a:solidFill>
                <a:effectLst/>
                <a:latin typeface="inherit"/>
              </a:rPr>
              <a:t> by airspeed velocity – tests how efficient the code is and how fast it should run</a:t>
            </a:r>
          </a:p>
          <a:p>
            <a:pPr algn="l" fontAlgn="base">
              <a:buFont typeface="Arial" panose="020B0604020202020204" pitchFamily="34" charset="0"/>
              <a:buChar char="•"/>
            </a:pPr>
            <a:r>
              <a:rPr lang="en-US" b="0" i="0" dirty="0">
                <a:solidFill>
                  <a:srgbClr val="0A0A23"/>
                </a:solidFill>
                <a:effectLst/>
                <a:latin typeface="inherit"/>
              </a:rPr>
              <a:t>Binder: turn your </a:t>
            </a:r>
            <a:r>
              <a:rPr lang="en-US" b="0" i="0" dirty="0" err="1">
                <a:solidFill>
                  <a:srgbClr val="0A0A23"/>
                </a:solidFill>
                <a:effectLst/>
                <a:latin typeface="inherit"/>
              </a:rPr>
              <a:t>github</a:t>
            </a:r>
            <a:r>
              <a:rPr lang="en-US" b="0" i="0" dirty="0">
                <a:solidFill>
                  <a:srgbClr val="0A0A23"/>
                </a:solidFill>
                <a:effectLst/>
                <a:latin typeface="inherit"/>
              </a:rPr>
              <a:t> repository into a bunch of </a:t>
            </a:r>
            <a:r>
              <a:rPr lang="en-US" b="0" i="0" dirty="0" err="1">
                <a:solidFill>
                  <a:srgbClr val="0A0A23"/>
                </a:solidFill>
                <a:effectLst/>
                <a:latin typeface="inherit"/>
              </a:rPr>
              <a:t>jupyter</a:t>
            </a:r>
            <a:r>
              <a:rPr lang="en-US" b="0" i="0" dirty="0">
                <a:solidFill>
                  <a:srgbClr val="0A0A23"/>
                </a:solidFill>
                <a:effectLst/>
                <a:latin typeface="inherit"/>
              </a:rPr>
              <a:t> notebooks</a:t>
            </a:r>
          </a:p>
          <a:p>
            <a:pPr algn="l" fontAlgn="base">
              <a:buFont typeface="Arial" panose="020B0604020202020204" pitchFamily="34" charset="0"/>
              <a:buChar char="•"/>
            </a:pPr>
            <a:endParaRPr lang="en-US" b="0" i="0" dirty="0">
              <a:solidFill>
                <a:srgbClr val="0A0A23"/>
              </a:solidFill>
              <a:effectLst/>
              <a:latin typeface="inherit"/>
            </a:endParaRPr>
          </a:p>
          <a:p>
            <a:pPr algn="l" fontAlgn="base">
              <a:buFont typeface="Arial" panose="020B0604020202020204" pitchFamily="34" charset="0"/>
              <a:buChar char="•"/>
            </a:pPr>
            <a:r>
              <a:rPr lang="en-US" b="0" i="0" dirty="0">
                <a:solidFill>
                  <a:srgbClr val="0A0A23"/>
                </a:solidFill>
                <a:effectLst/>
                <a:latin typeface="inherit"/>
              </a:rPr>
              <a:t>It is the first file a person will see when they encounter your project, so it should be fairly brief but detailed.</a:t>
            </a:r>
          </a:p>
          <a:p>
            <a:pPr algn="l" fontAlgn="base">
              <a:buFont typeface="Arial" panose="020B0604020202020204" pitchFamily="34" charset="0"/>
              <a:buChar char="•"/>
            </a:pPr>
            <a:r>
              <a:rPr lang="en-US" b="0" i="0" dirty="0">
                <a:solidFill>
                  <a:srgbClr val="0A0A23"/>
                </a:solidFill>
                <a:effectLst/>
                <a:latin typeface="inherit"/>
              </a:rPr>
              <a:t>It will make your project standout from a bunch of others. Also be sure your project is good too.</a:t>
            </a:r>
          </a:p>
          <a:p>
            <a:pPr algn="l" fontAlgn="base">
              <a:buFont typeface="Arial" panose="020B0604020202020204" pitchFamily="34" charset="0"/>
              <a:buChar char="•"/>
            </a:pPr>
            <a:r>
              <a:rPr lang="en-US" b="0" i="0" dirty="0">
                <a:solidFill>
                  <a:srgbClr val="0A0A23"/>
                </a:solidFill>
                <a:effectLst/>
                <a:latin typeface="inherit"/>
              </a:rPr>
              <a:t>It will help you focus on what your project needs to deliver and how.</a:t>
            </a:r>
          </a:p>
          <a:p>
            <a:pPr algn="l" fontAlgn="base">
              <a:buFont typeface="Arial" panose="020B0604020202020204" pitchFamily="34" charset="0"/>
              <a:buChar char="•"/>
            </a:pPr>
            <a:r>
              <a:rPr lang="en-US" b="0" i="0" dirty="0">
                <a:solidFill>
                  <a:srgbClr val="0A0A23"/>
                </a:solidFill>
                <a:effectLst/>
                <a:latin typeface="inherit"/>
              </a:rPr>
              <a:t>It will improve your writing skill</a:t>
            </a:r>
          </a:p>
          <a:p>
            <a:endParaRPr lang="en-US" dirty="0"/>
          </a:p>
        </p:txBody>
      </p:sp>
      <p:sp>
        <p:nvSpPr>
          <p:cNvPr id="4" name="Slide Number Placeholder 3"/>
          <p:cNvSpPr>
            <a:spLocks noGrp="1"/>
          </p:cNvSpPr>
          <p:nvPr>
            <p:ph type="sldNum" sz="quarter" idx="5"/>
          </p:nvPr>
        </p:nvSpPr>
        <p:spPr/>
        <p:txBody>
          <a:bodyPr/>
          <a:lstStyle/>
          <a:p>
            <a:fld id="{D507CE7D-8D58-3941-8E2D-16BA24A2676D}" type="slidenum">
              <a:rPr lang="en-US" smtClean="0"/>
              <a:t>11</a:t>
            </a:fld>
            <a:endParaRPr lang="en-US"/>
          </a:p>
        </p:txBody>
      </p:sp>
    </p:spTree>
    <p:extLst>
      <p:ext uri="{BB962C8B-B14F-4D97-AF65-F5344CB8AC3E}">
        <p14:creationId xmlns:p14="http://schemas.microsoft.com/office/powerpoint/2010/main" val="1011087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a:t>
            </a:r>
          </a:p>
        </p:txBody>
      </p:sp>
      <p:sp>
        <p:nvSpPr>
          <p:cNvPr id="4" name="Slide Number Placeholder 3"/>
          <p:cNvSpPr>
            <a:spLocks noGrp="1"/>
          </p:cNvSpPr>
          <p:nvPr>
            <p:ph type="sldNum" sz="quarter" idx="5"/>
          </p:nvPr>
        </p:nvSpPr>
        <p:spPr/>
        <p:txBody>
          <a:bodyPr/>
          <a:lstStyle/>
          <a:p>
            <a:fld id="{D507CE7D-8D58-3941-8E2D-16BA24A2676D}" type="slidenum">
              <a:rPr lang="en-US" smtClean="0"/>
              <a:t>13</a:t>
            </a:fld>
            <a:endParaRPr lang="en-US"/>
          </a:p>
        </p:txBody>
      </p:sp>
    </p:spTree>
    <p:extLst>
      <p:ext uri="{BB962C8B-B14F-4D97-AF65-F5344CB8AC3E}">
        <p14:creationId xmlns:p14="http://schemas.microsoft.com/office/powerpoint/2010/main" val="603023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effectLst/>
                <a:latin typeface="Helvetica Neue" panose="02000503000000020004" pitchFamily="2" charset="0"/>
              </a:rPr>
              <a:t>(e.g., if there are 5 questions, each questions has 10 points for completeness, 5 points for correctness, 5 points for “effective use”)</a:t>
            </a:r>
          </a:p>
          <a:p>
            <a:endParaRPr lang="en-US" dirty="0"/>
          </a:p>
        </p:txBody>
      </p:sp>
      <p:sp>
        <p:nvSpPr>
          <p:cNvPr id="4" name="Slide Number Placeholder 3"/>
          <p:cNvSpPr>
            <a:spLocks noGrp="1"/>
          </p:cNvSpPr>
          <p:nvPr>
            <p:ph type="sldNum" sz="quarter" idx="5"/>
          </p:nvPr>
        </p:nvSpPr>
        <p:spPr/>
        <p:txBody>
          <a:bodyPr/>
          <a:lstStyle/>
          <a:p>
            <a:fld id="{D507CE7D-8D58-3941-8E2D-16BA24A2676D}" type="slidenum">
              <a:rPr lang="en-US" smtClean="0"/>
              <a:t>21</a:t>
            </a:fld>
            <a:endParaRPr lang="en-US"/>
          </a:p>
        </p:txBody>
      </p:sp>
    </p:spTree>
    <p:extLst>
      <p:ext uri="{BB962C8B-B14F-4D97-AF65-F5344CB8AC3E}">
        <p14:creationId xmlns:p14="http://schemas.microsoft.com/office/powerpoint/2010/main" val="3498889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82645"/>
            <a:ext cx="10363200" cy="1470025"/>
          </a:xfrm>
        </p:spPr>
        <p:txBody>
          <a:bodyPr/>
          <a:lstStyle>
            <a:lvl1pPr>
              <a:defRPr>
                <a:latin typeface="Arial"/>
              </a:defRPr>
            </a:lvl1pPr>
          </a:lstStyle>
          <a:p>
            <a:r>
              <a:rPr lang="en-US" dirty="0"/>
              <a:t>Click to edit Master title style</a:t>
            </a:r>
          </a:p>
        </p:txBody>
      </p:sp>
      <p:sp>
        <p:nvSpPr>
          <p:cNvPr id="3" name="Subtitle 2"/>
          <p:cNvSpPr>
            <a:spLocks noGrp="1"/>
          </p:cNvSpPr>
          <p:nvPr>
            <p:ph type="subTitle" idx="1"/>
          </p:nvPr>
        </p:nvSpPr>
        <p:spPr>
          <a:xfrm>
            <a:off x="1828800" y="3276600"/>
            <a:ext cx="8534400" cy="1016000"/>
          </a:xfrm>
        </p:spPr>
        <p:txBody>
          <a:bodyPr/>
          <a:lstStyle>
            <a:lvl1pPr marL="0" indent="0" algn="ctr">
              <a:buNone/>
              <a:defRPr>
                <a:solidFill>
                  <a:schemeClr val="tx1"/>
                </a:solidFill>
                <a:latin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D18B09B7-D637-3E44-87BE-84D13944F4B6}"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56936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0656"/>
            <a:ext cx="10972800" cy="741363"/>
          </a:xfrm>
        </p:spPr>
        <p:txBody>
          <a:bodyPr>
            <a:normAutofit/>
          </a:bodyPr>
          <a:lstStyle>
            <a:lvl1pPr>
              <a:defRPr sz="3600">
                <a:latin typeface="Arial"/>
              </a:defRPr>
            </a:lvl1pPr>
          </a:lstStyle>
          <a:p>
            <a:r>
              <a:rPr lang="en-US" dirty="0"/>
              <a:t>Click to edit Master title style</a:t>
            </a:r>
          </a:p>
        </p:txBody>
      </p:sp>
      <p:sp>
        <p:nvSpPr>
          <p:cNvPr id="3" name="Content Placeholder 2"/>
          <p:cNvSpPr>
            <a:spLocks noGrp="1"/>
          </p:cNvSpPr>
          <p:nvPr>
            <p:ph idx="1"/>
          </p:nvPr>
        </p:nvSpPr>
        <p:spPr>
          <a:xfrm>
            <a:off x="609600" y="1003306"/>
            <a:ext cx="10972800" cy="5122863"/>
          </a:xfrm>
        </p:spPr>
        <p:txBody>
          <a:bodyPr/>
          <a:lstStyle>
            <a:lvl1pPr>
              <a:defRPr sz="2800">
                <a:latin typeface="Arial"/>
              </a:defRPr>
            </a:lvl1pPr>
            <a:lvl2pPr>
              <a:defRPr sz="2400">
                <a:latin typeface="Arial"/>
              </a:defRPr>
            </a:lvl2pPr>
            <a:lvl3pPr>
              <a:defRPr sz="20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160A564-CE73-9B49-971B-3B614A8DE614}"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cxnSp>
        <p:nvCxnSpPr>
          <p:cNvPr id="8" name="Straight Connector 7"/>
          <p:cNvCxnSpPr/>
          <p:nvPr userDrawn="1"/>
        </p:nvCxnSpPr>
        <p:spPr>
          <a:xfrm>
            <a:off x="609600" y="863600"/>
            <a:ext cx="10972800" cy="0"/>
          </a:xfrm>
          <a:prstGeom prst="line">
            <a:avLst/>
          </a:prstGeom>
          <a:ln w="38100" cmpd="sng">
            <a:solidFill>
              <a:schemeClr val="tx1">
                <a:lumMod val="95000"/>
                <a:lumOff val="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2262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F195A3-7D7B-C44F-9A68-BC3933C1DFFC}"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606554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B24E4F-B36C-F04A-BB09-40233A12DCEF}"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092370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7"/>
            <a:ext cx="5386917"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2" y="1535117"/>
            <a:ext cx="5389033"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287C8E-CA0C-EA49-8BDE-30999D3BF187}"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141029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53298CF-6706-B444-8ED1-3766376B21E7}"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889056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1C2F39-C36E-9645-8F14-093C54288B6D}"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97328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68"/>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7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EEAE45-781C-314D-97DE-2F14F7785881}"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32016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19"/>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57"/>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9482D8-D24C-0E48-B41E-CEB9556E7A0F}"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33212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29768B-BDE3-9449-9A8D-95D399F44AE3}"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19874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5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5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D9C7B2-E383-8F48-B583-0DCA9DE09C84}"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88360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7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927A59-BACB-694C-AED5-7FE018C91885}" type="datetime1">
              <a:rPr lang="en-US" smtClean="0">
                <a:solidFill>
                  <a:prstClr val="black">
                    <a:tint val="75000"/>
                  </a:prstClr>
                </a:solidFill>
                <a:latin typeface="Calibri"/>
              </a:rPr>
              <a:pPr/>
              <a:t>12/29/25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4165600" y="635637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8737600" y="6356370"/>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C14F63FA-BE45-AC47-BCEE-A4BD7BF84FC1}" type="slidenum">
              <a:rPr lang="en-US" smtClean="0">
                <a:solidFill>
                  <a:prstClr val="black">
                    <a:tint val="75000"/>
                  </a:prstClr>
                </a:solidFill>
                <a:latin typeface="Calibri"/>
              </a:rPr>
              <a:pPr/>
              <a:t>‹#›</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4018477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st2166@columbia.edu" TargetMode="External"/><Relationship Id="rId2" Type="http://schemas.openxmlformats.org/officeDocument/2006/relationships/hyperlink" Target="mailto:danielmw@ldeo.Columbia.edu"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erosol.ldeo.columbia.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chopin.ldeo.columbia.edu:8441/jupyterhub/"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education.github.com/pac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4F83-9271-914A-AC97-0833E4F4F87C}"/>
              </a:ext>
            </a:extLst>
          </p:cNvPr>
          <p:cNvSpPr>
            <a:spLocks noGrp="1"/>
          </p:cNvSpPr>
          <p:nvPr>
            <p:ph type="title"/>
          </p:nvPr>
        </p:nvSpPr>
        <p:spPr/>
        <p:txBody>
          <a:bodyPr>
            <a:normAutofit fontScale="90000"/>
          </a:bodyPr>
          <a:lstStyle/>
          <a:p>
            <a:r>
              <a:rPr lang="en-US" dirty="0"/>
              <a:t>CLMT5053 Computing and Research Methods for Climate Data Science</a:t>
            </a:r>
          </a:p>
        </p:txBody>
      </p:sp>
      <p:sp>
        <p:nvSpPr>
          <p:cNvPr id="3" name="Content Placeholder 2">
            <a:extLst>
              <a:ext uri="{FF2B5EF4-FFF2-40B4-BE49-F238E27FC236}">
                <a16:creationId xmlns:a16="http://schemas.microsoft.com/office/drawing/2014/main" id="{71EC67A2-677A-1E4C-8E77-ECD2E194BB7E}"/>
              </a:ext>
            </a:extLst>
          </p:cNvPr>
          <p:cNvSpPr>
            <a:spLocks noGrp="1"/>
          </p:cNvSpPr>
          <p:nvPr>
            <p:ph idx="1"/>
          </p:nvPr>
        </p:nvSpPr>
        <p:spPr/>
        <p:txBody>
          <a:bodyPr>
            <a:normAutofit fontScale="92500" lnSpcReduction="20000"/>
          </a:bodyPr>
          <a:lstStyle/>
          <a:p>
            <a:r>
              <a:rPr lang="en-US" dirty="0"/>
              <a:t>Instructor</a:t>
            </a:r>
          </a:p>
          <a:p>
            <a:pPr lvl="1"/>
            <a:r>
              <a:rPr lang="en-US" dirty="0"/>
              <a:t>Prof. Dan Westervelt (</a:t>
            </a:r>
            <a:r>
              <a:rPr lang="en-US" dirty="0">
                <a:hlinkClick r:id="rId2"/>
              </a:rPr>
              <a:t>danielmw@ldeo.columbia.edu</a:t>
            </a:r>
            <a:r>
              <a:rPr lang="en-US" dirty="0"/>
              <a:t>)</a:t>
            </a:r>
          </a:p>
          <a:p>
            <a:endParaRPr lang="en-US" dirty="0"/>
          </a:p>
          <a:p>
            <a:r>
              <a:rPr lang="en-US" dirty="0"/>
              <a:t>TA:</a:t>
            </a:r>
          </a:p>
          <a:p>
            <a:pPr lvl="1"/>
            <a:r>
              <a:rPr lang="en-US" dirty="0">
                <a:solidFill>
                  <a:srgbClr val="000000"/>
                </a:solidFill>
                <a:effectLst/>
                <a:latin typeface="Calibri" panose="020F0502020204030204" pitchFamily="34" charset="0"/>
                <a:ea typeface="Calibri" panose="020F0502020204030204" pitchFamily="34" charset="0"/>
              </a:rPr>
              <a:t>Shweta Smriti Tripathi (</a:t>
            </a:r>
            <a:r>
              <a:rPr lang="en-US" dirty="0">
                <a:solidFill>
                  <a:srgbClr val="000000"/>
                </a:solidFill>
                <a:effectLst/>
                <a:latin typeface="Calibri" panose="020F0502020204030204" pitchFamily="34" charset="0"/>
                <a:ea typeface="Calibri" panose="020F0502020204030204" pitchFamily="34" charset="0"/>
                <a:hlinkClick r:id="rId3"/>
              </a:rPr>
              <a:t>sst2166@columbia.edu</a:t>
            </a:r>
            <a:r>
              <a:rPr lang="en-US" dirty="0">
                <a:solidFill>
                  <a:srgbClr val="000000"/>
                </a:solidFill>
                <a:effectLst/>
                <a:latin typeface="Calibri" panose="020F0502020204030204" pitchFamily="34" charset="0"/>
                <a:ea typeface="Calibri" panose="020F0502020204030204" pitchFamily="34" charset="0"/>
              </a:rPr>
              <a:t>)</a:t>
            </a:r>
          </a:p>
          <a:p>
            <a:pPr lvl="1"/>
            <a:r>
              <a:rPr lang="en-US" dirty="0">
                <a:solidFill>
                  <a:srgbClr val="000000"/>
                </a:solidFill>
                <a:effectLst/>
                <a:latin typeface="Calibri" panose="020F0502020204030204" pitchFamily="34" charset="0"/>
                <a:ea typeface="Calibri" panose="020F0502020204030204" pitchFamily="34" charset="0"/>
              </a:rPr>
              <a:t>Jaewon Cho (jc6618@Columbia.edu)</a:t>
            </a:r>
            <a:endParaRPr lang="en-US" dirty="0">
              <a:effectLst/>
              <a:latin typeface="Arial" panose="020B0604020202020204" pitchFamily="34" charset="0"/>
              <a:ea typeface="Arial" panose="020B0604020202020204" pitchFamily="34" charset="0"/>
            </a:endParaRPr>
          </a:p>
          <a:p>
            <a:pPr lvl="1"/>
            <a:endParaRPr lang="en-US" dirty="0"/>
          </a:p>
          <a:p>
            <a:r>
              <a:rPr lang="en-US" dirty="0"/>
              <a:t>Meeting time</a:t>
            </a:r>
          </a:p>
          <a:p>
            <a:pPr lvl="1"/>
            <a:r>
              <a:rPr lang="en-US" dirty="0"/>
              <a:t>Tuesday 1:10 – 3:40pm </a:t>
            </a:r>
          </a:p>
          <a:p>
            <a:pPr marL="0" indent="0">
              <a:buNone/>
            </a:pPr>
            <a:endParaRPr lang="en-US" dirty="0"/>
          </a:p>
          <a:p>
            <a:r>
              <a:rPr lang="en-US" dirty="0"/>
              <a:t>Office hours</a:t>
            </a:r>
          </a:p>
          <a:p>
            <a:pPr lvl="1"/>
            <a:r>
              <a:rPr lang="en-US" dirty="0"/>
              <a:t>Instructor: by appointment</a:t>
            </a:r>
          </a:p>
          <a:p>
            <a:pPr lvl="1"/>
            <a:r>
              <a:rPr lang="en-US" dirty="0"/>
              <a:t>TA (Shweta):</a:t>
            </a:r>
          </a:p>
          <a:p>
            <a:pPr lvl="1"/>
            <a:r>
              <a:rPr lang="en-US" dirty="0"/>
              <a:t>TA (Jaewon): </a:t>
            </a:r>
          </a:p>
        </p:txBody>
      </p:sp>
      <p:sp>
        <p:nvSpPr>
          <p:cNvPr id="4" name="Slide Number Placeholder 3">
            <a:extLst>
              <a:ext uri="{FF2B5EF4-FFF2-40B4-BE49-F238E27FC236}">
                <a16:creationId xmlns:a16="http://schemas.microsoft.com/office/drawing/2014/main" id="{1B17BCC1-A198-EC45-A1AB-88B3215A2981}"/>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a:t>
            </a:fld>
            <a:endParaRPr lang="en-US">
              <a:solidFill>
                <a:prstClr val="black">
                  <a:tint val="75000"/>
                </a:prstClr>
              </a:solidFill>
              <a:latin typeface="Calibri"/>
            </a:endParaRPr>
          </a:p>
        </p:txBody>
      </p:sp>
    </p:spTree>
    <p:extLst>
      <p:ext uri="{BB962C8B-B14F-4D97-AF65-F5344CB8AC3E}">
        <p14:creationId xmlns:p14="http://schemas.microsoft.com/office/powerpoint/2010/main" val="3628464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439EF5-1363-B5C8-162C-0787C16D643D}"/>
              </a:ext>
            </a:extLst>
          </p:cNvPr>
          <p:cNvSpPr>
            <a:spLocks noGrp="1"/>
          </p:cNvSpPr>
          <p:nvPr>
            <p:ph type="title"/>
          </p:nvPr>
        </p:nvSpPr>
        <p:spPr/>
        <p:txBody>
          <a:bodyPr/>
          <a:lstStyle/>
          <a:p>
            <a:r>
              <a:rPr lang="en-US" dirty="0"/>
              <a:t>My research</a:t>
            </a:r>
          </a:p>
        </p:txBody>
      </p:sp>
      <p:sp>
        <p:nvSpPr>
          <p:cNvPr id="4" name="Content Placeholder 3">
            <a:extLst>
              <a:ext uri="{FF2B5EF4-FFF2-40B4-BE49-F238E27FC236}">
                <a16:creationId xmlns:a16="http://schemas.microsoft.com/office/drawing/2014/main" id="{A25EF5EB-5106-764D-D614-40322A3190DF}"/>
              </a:ext>
            </a:extLst>
          </p:cNvPr>
          <p:cNvSpPr>
            <a:spLocks noGrp="1"/>
          </p:cNvSpPr>
          <p:nvPr>
            <p:ph idx="1"/>
          </p:nvPr>
        </p:nvSpPr>
        <p:spPr>
          <a:xfrm>
            <a:off x="609600" y="1003306"/>
            <a:ext cx="10972800" cy="1418161"/>
          </a:xfrm>
        </p:spPr>
        <p:txBody>
          <a:bodyPr>
            <a:normAutofit fontScale="92500"/>
          </a:bodyPr>
          <a:lstStyle/>
          <a:p>
            <a:r>
              <a:rPr lang="en-US" sz="2200" dirty="0"/>
              <a:t>Atmospheric modeling, climate change, air quality, atmospheric chemistry, air quality sensors</a:t>
            </a:r>
          </a:p>
          <a:p>
            <a:r>
              <a:rPr lang="en-US" sz="2200" dirty="0">
                <a:hlinkClick r:id="rId2"/>
              </a:rPr>
              <a:t>https://aerosol.ldeo.columbia.edu/</a:t>
            </a:r>
            <a:endParaRPr lang="en-US" sz="2200" dirty="0"/>
          </a:p>
          <a:p>
            <a:pPr marL="0" indent="0">
              <a:buNone/>
            </a:pPr>
            <a:r>
              <a:rPr lang="en-US" sz="2200" dirty="0"/>
              <a:t>		Precipitation response to changing aerosol emissions in 8 CMIP6 Climate Models</a:t>
            </a:r>
          </a:p>
        </p:txBody>
      </p:sp>
      <p:sp>
        <p:nvSpPr>
          <p:cNvPr id="2" name="Slide Number Placeholder 1">
            <a:extLst>
              <a:ext uri="{FF2B5EF4-FFF2-40B4-BE49-F238E27FC236}">
                <a16:creationId xmlns:a16="http://schemas.microsoft.com/office/drawing/2014/main" id="{91E38B6C-6F50-4845-23B0-0F49AEAA20CD}"/>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a:t>
            </a:fld>
            <a:endParaRPr lang="en-US">
              <a:solidFill>
                <a:prstClr val="black">
                  <a:tint val="75000"/>
                </a:prstClr>
              </a:solidFill>
              <a:latin typeface="Calibri"/>
            </a:endParaRPr>
          </a:p>
        </p:txBody>
      </p:sp>
      <p:pic>
        <p:nvPicPr>
          <p:cNvPr id="5" name="image8.png">
            <a:extLst>
              <a:ext uri="{FF2B5EF4-FFF2-40B4-BE49-F238E27FC236}">
                <a16:creationId xmlns:a16="http://schemas.microsoft.com/office/drawing/2014/main" id="{7E0554B7-1E30-5280-57CA-1D4495C77F43}"/>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1728144" y="2077228"/>
            <a:ext cx="8431856" cy="4718612"/>
          </a:xfrm>
          <a:prstGeom prst="rect">
            <a:avLst/>
          </a:prstGeom>
          <a:ln/>
        </p:spPr>
      </p:pic>
    </p:spTree>
    <p:extLst>
      <p:ext uri="{BB962C8B-B14F-4D97-AF65-F5344CB8AC3E}">
        <p14:creationId xmlns:p14="http://schemas.microsoft.com/office/powerpoint/2010/main" val="3236444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Visualization of 1 year simulation of chemistry-climate model</a:t>
            </a:r>
          </a:p>
        </p:txBody>
      </p:sp>
      <p:sp>
        <p:nvSpPr>
          <p:cNvPr id="4" name="Slide Number Placeholder 3"/>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3</a:t>
            </a:fld>
            <a:endParaRPr lang="en-US">
              <a:solidFill>
                <a:prstClr val="black">
                  <a:tint val="75000"/>
                </a:prstClr>
              </a:solidFill>
              <a:latin typeface="Calibri"/>
            </a:endParaRPr>
          </a:p>
        </p:txBody>
      </p:sp>
      <p:sp>
        <p:nvSpPr>
          <p:cNvPr id="6" name="TextBox 5"/>
          <p:cNvSpPr txBox="1"/>
          <p:nvPr/>
        </p:nvSpPr>
        <p:spPr>
          <a:xfrm>
            <a:off x="1813034" y="6421848"/>
            <a:ext cx="2832100" cy="369332"/>
          </a:xfrm>
          <a:prstGeom prst="rect">
            <a:avLst/>
          </a:prstGeom>
          <a:noFill/>
        </p:spPr>
        <p:txBody>
          <a:bodyPr wrap="square" rtlCol="0">
            <a:spAutoFit/>
          </a:bodyPr>
          <a:lstStyle/>
          <a:p>
            <a:r>
              <a:rPr lang="en-US" dirty="0"/>
              <a:t>Courtesy of NASA</a:t>
            </a:r>
          </a:p>
        </p:txBody>
      </p:sp>
      <p:sp>
        <p:nvSpPr>
          <p:cNvPr id="9" name="Content Placeholder 8">
            <a:extLst>
              <a:ext uri="{FF2B5EF4-FFF2-40B4-BE49-F238E27FC236}">
                <a16:creationId xmlns:a16="http://schemas.microsoft.com/office/drawing/2014/main" id="{9C2FDD85-E34E-95EC-00D5-F8341E47460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28748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6CD-052F-5F44-A429-59A91DDCA27F}"/>
              </a:ext>
            </a:extLst>
          </p:cNvPr>
          <p:cNvSpPr>
            <a:spLocks noGrp="1"/>
          </p:cNvSpPr>
          <p:nvPr>
            <p:ph type="title"/>
          </p:nvPr>
        </p:nvSpPr>
        <p:spPr/>
        <p:txBody>
          <a:bodyPr/>
          <a:lstStyle/>
          <a:p>
            <a:r>
              <a:rPr lang="en-US" dirty="0"/>
              <a:t>Challenges in research computing</a:t>
            </a:r>
          </a:p>
        </p:txBody>
      </p:sp>
      <p:sp>
        <p:nvSpPr>
          <p:cNvPr id="3" name="Content Placeholder 2">
            <a:extLst>
              <a:ext uri="{FF2B5EF4-FFF2-40B4-BE49-F238E27FC236}">
                <a16:creationId xmlns:a16="http://schemas.microsoft.com/office/drawing/2014/main" id="{A103D7AE-B943-E144-80A0-E04ABF16B1DB}"/>
              </a:ext>
            </a:extLst>
          </p:cNvPr>
          <p:cNvSpPr>
            <a:spLocks noGrp="1"/>
          </p:cNvSpPr>
          <p:nvPr>
            <p:ph idx="1"/>
          </p:nvPr>
        </p:nvSpPr>
        <p:spPr/>
        <p:txBody>
          <a:bodyPr>
            <a:normAutofit fontScale="92500" lnSpcReduction="20000"/>
          </a:bodyPr>
          <a:lstStyle/>
          <a:p>
            <a:r>
              <a:rPr lang="en-US" dirty="0"/>
              <a:t>Complexity</a:t>
            </a:r>
          </a:p>
          <a:p>
            <a:pPr lvl="1"/>
            <a:r>
              <a:rPr lang="en-US" dirty="0"/>
              <a:t>Our research goals are complex! How much coding do we need to know?</a:t>
            </a:r>
          </a:p>
          <a:p>
            <a:pPr lvl="1"/>
            <a:r>
              <a:rPr lang="en-US" dirty="0"/>
              <a:t>Solution: use the best tools for the job</a:t>
            </a:r>
          </a:p>
          <a:p>
            <a:endParaRPr lang="en-US" dirty="0"/>
          </a:p>
          <a:p>
            <a:endParaRPr lang="en-US" dirty="0"/>
          </a:p>
          <a:p>
            <a:r>
              <a:rPr lang="en-US" dirty="0"/>
              <a:t>Reproducibility</a:t>
            </a:r>
          </a:p>
          <a:p>
            <a:pPr lvl="1"/>
            <a:r>
              <a:rPr lang="en-US" dirty="0"/>
              <a:t>It’s not easy to reproduce the work of others (or even our own), which slows down scientific progress</a:t>
            </a:r>
          </a:p>
          <a:p>
            <a:pPr lvl="1"/>
            <a:r>
              <a:rPr lang="en-US" dirty="0"/>
              <a:t>Solution: embrace open-science practices</a:t>
            </a:r>
          </a:p>
          <a:p>
            <a:pPr marL="0" indent="0">
              <a:buNone/>
            </a:pPr>
            <a:endParaRPr lang="en-US" dirty="0"/>
          </a:p>
          <a:p>
            <a:r>
              <a:rPr lang="en-US" dirty="0"/>
              <a:t>Data Size</a:t>
            </a:r>
          </a:p>
          <a:p>
            <a:pPr lvl="1"/>
            <a:r>
              <a:rPr lang="en-US" dirty="0"/>
              <a:t>It’s hard to work with terabytes of data</a:t>
            </a:r>
          </a:p>
          <a:p>
            <a:pPr lvl="1"/>
            <a:r>
              <a:rPr lang="en-US" dirty="0"/>
              <a:t>Solution: learn how to use high-performance computing</a:t>
            </a:r>
          </a:p>
        </p:txBody>
      </p:sp>
      <p:sp>
        <p:nvSpPr>
          <p:cNvPr id="4" name="Slide Number Placeholder 3">
            <a:extLst>
              <a:ext uri="{FF2B5EF4-FFF2-40B4-BE49-F238E27FC236}">
                <a16:creationId xmlns:a16="http://schemas.microsoft.com/office/drawing/2014/main" id="{8B0CF190-22D4-1949-A277-8C40BBEC70CF}"/>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4</a:t>
            </a:fld>
            <a:endParaRPr lang="en-US">
              <a:solidFill>
                <a:prstClr val="black">
                  <a:tint val="75000"/>
                </a:prstClr>
              </a:solidFill>
              <a:latin typeface="Calibri"/>
            </a:endParaRPr>
          </a:p>
        </p:txBody>
      </p:sp>
    </p:spTree>
    <p:extLst>
      <p:ext uri="{BB962C8B-B14F-4D97-AF65-F5344CB8AC3E}">
        <p14:creationId xmlns:p14="http://schemas.microsoft.com/office/powerpoint/2010/main" val="3353846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CE09-EEB8-9847-97FE-4349F7A4F2F0}"/>
              </a:ext>
            </a:extLst>
          </p:cNvPr>
          <p:cNvSpPr>
            <a:spLocks noGrp="1"/>
          </p:cNvSpPr>
          <p:nvPr>
            <p:ph type="title"/>
          </p:nvPr>
        </p:nvSpPr>
        <p:spPr/>
        <p:txBody>
          <a:bodyPr/>
          <a:lstStyle/>
          <a:p>
            <a:r>
              <a:rPr lang="en-US" dirty="0"/>
              <a:t>The tools</a:t>
            </a:r>
          </a:p>
        </p:txBody>
      </p:sp>
      <p:sp>
        <p:nvSpPr>
          <p:cNvPr id="4" name="Slide Number Placeholder 3">
            <a:extLst>
              <a:ext uri="{FF2B5EF4-FFF2-40B4-BE49-F238E27FC236}">
                <a16:creationId xmlns:a16="http://schemas.microsoft.com/office/drawing/2014/main" id="{3E024AF0-33CB-C240-BDEE-B553654E58DB}"/>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5</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58852B6D-EB13-6743-B145-7534BE9DA425}"/>
              </a:ext>
            </a:extLst>
          </p:cNvPr>
          <p:cNvPicPr>
            <a:picLocks noChangeAspect="1"/>
          </p:cNvPicPr>
          <p:nvPr/>
        </p:nvPicPr>
        <p:blipFill>
          <a:blip r:embed="rId2"/>
          <a:stretch>
            <a:fillRect/>
          </a:stretch>
        </p:blipFill>
        <p:spPr>
          <a:xfrm>
            <a:off x="1124988" y="1027747"/>
            <a:ext cx="9942024" cy="5693748"/>
          </a:xfrm>
          <a:prstGeom prst="rect">
            <a:avLst/>
          </a:prstGeom>
        </p:spPr>
      </p:pic>
    </p:spTree>
    <p:extLst>
      <p:ext uri="{BB962C8B-B14F-4D97-AF65-F5344CB8AC3E}">
        <p14:creationId xmlns:p14="http://schemas.microsoft.com/office/powerpoint/2010/main" val="243243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2B0E-9C49-854F-AB6D-1DC1D7924258}"/>
              </a:ext>
            </a:extLst>
          </p:cNvPr>
          <p:cNvSpPr>
            <a:spLocks noGrp="1"/>
          </p:cNvSpPr>
          <p:nvPr>
            <p:ph type="title"/>
          </p:nvPr>
        </p:nvSpPr>
        <p:spPr/>
        <p:txBody>
          <a:bodyPr/>
          <a:lstStyle/>
          <a:p>
            <a:r>
              <a:rPr lang="en-US" dirty="0"/>
              <a:t>The tools</a:t>
            </a:r>
          </a:p>
        </p:txBody>
      </p:sp>
      <p:sp>
        <p:nvSpPr>
          <p:cNvPr id="4" name="Slide Number Placeholder 3">
            <a:extLst>
              <a:ext uri="{FF2B5EF4-FFF2-40B4-BE49-F238E27FC236}">
                <a16:creationId xmlns:a16="http://schemas.microsoft.com/office/drawing/2014/main" id="{06A8B3E9-151B-074F-A468-B4B8D0F35FBE}"/>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6</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81CF07EF-0163-EB42-B3DE-3B7EF038294D}"/>
              </a:ext>
            </a:extLst>
          </p:cNvPr>
          <p:cNvPicPr>
            <a:picLocks noChangeAspect="1"/>
          </p:cNvPicPr>
          <p:nvPr/>
        </p:nvPicPr>
        <p:blipFill>
          <a:blip r:embed="rId2"/>
          <a:stretch>
            <a:fillRect/>
          </a:stretch>
        </p:blipFill>
        <p:spPr>
          <a:xfrm>
            <a:off x="2325138" y="918636"/>
            <a:ext cx="7084868" cy="5620296"/>
          </a:xfrm>
          <a:prstGeom prst="rect">
            <a:avLst/>
          </a:prstGeom>
        </p:spPr>
      </p:pic>
    </p:spTree>
    <p:extLst>
      <p:ext uri="{BB962C8B-B14F-4D97-AF65-F5344CB8AC3E}">
        <p14:creationId xmlns:p14="http://schemas.microsoft.com/office/powerpoint/2010/main" val="2826700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7E83F-93A0-F147-A4DD-74B032C7176C}"/>
              </a:ext>
            </a:extLst>
          </p:cNvPr>
          <p:cNvSpPr>
            <a:spLocks noGrp="1"/>
          </p:cNvSpPr>
          <p:nvPr>
            <p:ph type="title"/>
          </p:nvPr>
        </p:nvSpPr>
        <p:spPr/>
        <p:txBody>
          <a:bodyPr/>
          <a:lstStyle/>
          <a:p>
            <a:r>
              <a:rPr lang="en-US" dirty="0"/>
              <a:t>Popularity of various </a:t>
            </a:r>
            <a:r>
              <a:rPr lang="en-US" dirty="0" err="1"/>
              <a:t>toools</a:t>
            </a:r>
            <a:endParaRPr lang="en-US" dirty="0"/>
          </a:p>
        </p:txBody>
      </p:sp>
      <p:sp>
        <p:nvSpPr>
          <p:cNvPr id="3" name="Content Placeholder 2">
            <a:extLst>
              <a:ext uri="{FF2B5EF4-FFF2-40B4-BE49-F238E27FC236}">
                <a16:creationId xmlns:a16="http://schemas.microsoft.com/office/drawing/2014/main" id="{1B7C93E4-C04A-3248-A933-A7C481FB3A2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447AD56-BE9E-FD46-B6FF-F276CD44B47B}"/>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7</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CBA2EFCD-C00D-844C-905A-46B13CD996EA}"/>
              </a:ext>
            </a:extLst>
          </p:cNvPr>
          <p:cNvPicPr>
            <a:picLocks noChangeAspect="1"/>
          </p:cNvPicPr>
          <p:nvPr/>
        </p:nvPicPr>
        <p:blipFill>
          <a:blip r:embed="rId2"/>
          <a:stretch>
            <a:fillRect/>
          </a:stretch>
        </p:blipFill>
        <p:spPr>
          <a:xfrm>
            <a:off x="190500" y="1003306"/>
            <a:ext cx="11741390" cy="5353064"/>
          </a:xfrm>
          <a:prstGeom prst="rect">
            <a:avLst/>
          </a:prstGeom>
        </p:spPr>
      </p:pic>
    </p:spTree>
    <p:extLst>
      <p:ext uri="{BB962C8B-B14F-4D97-AF65-F5344CB8AC3E}">
        <p14:creationId xmlns:p14="http://schemas.microsoft.com/office/powerpoint/2010/main" val="466558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E452A-5892-554F-BF33-A6D87CCAA00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40B817D-4688-7441-A1D5-EA3AF7BD261C}"/>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6448FBD-D0C3-EE44-9C85-36EB01E3D0E6}"/>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8</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1790FD81-3033-3C48-9FFA-6D518EDCC668}"/>
              </a:ext>
            </a:extLst>
          </p:cNvPr>
          <p:cNvPicPr>
            <a:picLocks noChangeAspect="1"/>
          </p:cNvPicPr>
          <p:nvPr/>
        </p:nvPicPr>
        <p:blipFill>
          <a:blip r:embed="rId2"/>
          <a:stretch>
            <a:fillRect/>
          </a:stretch>
        </p:blipFill>
        <p:spPr>
          <a:xfrm>
            <a:off x="166253" y="-1"/>
            <a:ext cx="11770822" cy="6885249"/>
          </a:xfrm>
          <a:prstGeom prst="rect">
            <a:avLst/>
          </a:prstGeom>
        </p:spPr>
      </p:pic>
    </p:spTree>
    <p:extLst>
      <p:ext uri="{BB962C8B-B14F-4D97-AF65-F5344CB8AC3E}">
        <p14:creationId xmlns:p14="http://schemas.microsoft.com/office/powerpoint/2010/main" val="2449906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08459-E525-864D-B6FA-FF107D670D6C}"/>
              </a:ext>
            </a:extLst>
          </p:cNvPr>
          <p:cNvSpPr>
            <a:spLocks noGrp="1"/>
          </p:cNvSpPr>
          <p:nvPr>
            <p:ph type="title"/>
          </p:nvPr>
        </p:nvSpPr>
        <p:spPr/>
        <p:txBody>
          <a:bodyPr/>
          <a:lstStyle/>
          <a:p>
            <a:r>
              <a:rPr lang="en-US" dirty="0"/>
              <a:t>What is “open source”?</a:t>
            </a:r>
          </a:p>
        </p:txBody>
      </p:sp>
      <p:sp>
        <p:nvSpPr>
          <p:cNvPr id="3" name="Content Placeholder 2">
            <a:extLst>
              <a:ext uri="{FF2B5EF4-FFF2-40B4-BE49-F238E27FC236}">
                <a16:creationId xmlns:a16="http://schemas.microsoft.com/office/drawing/2014/main" id="{B3F6E5F5-ED5B-3F45-97EC-CDC6A199FC8F}"/>
              </a:ext>
            </a:extLst>
          </p:cNvPr>
          <p:cNvSpPr>
            <a:spLocks noGrp="1"/>
          </p:cNvSpPr>
          <p:nvPr>
            <p:ph idx="1"/>
          </p:nvPr>
        </p:nvSpPr>
        <p:spPr/>
        <p:txBody>
          <a:bodyPr/>
          <a:lstStyle/>
          <a:p>
            <a:r>
              <a:rPr lang="en-US" dirty="0"/>
              <a:t>Open source is code that is made freely available for possible modification and redistribution via a suitable software license. </a:t>
            </a:r>
          </a:p>
          <a:p>
            <a:endParaRPr lang="en-US" dirty="0"/>
          </a:p>
          <a:p>
            <a:r>
              <a:rPr lang="en-US" dirty="0"/>
              <a:t>The core Python language and its many packages in the scientific ecosystem are all open source</a:t>
            </a:r>
          </a:p>
          <a:p>
            <a:endParaRPr lang="en-US" dirty="0"/>
          </a:p>
          <a:p>
            <a:r>
              <a:rPr lang="en-US" dirty="0"/>
              <a:t>Many open source projects practice:</a:t>
            </a:r>
          </a:p>
          <a:p>
            <a:pPr lvl="1"/>
            <a:r>
              <a:rPr lang="en-US" dirty="0"/>
              <a:t> </a:t>
            </a:r>
            <a:r>
              <a:rPr lang="en-US" i="1" dirty="0"/>
              <a:t>open development</a:t>
            </a:r>
            <a:r>
              <a:rPr lang="en-US" dirty="0"/>
              <a:t>, a transparent way of producing software that involves contributors and users interacting publicly</a:t>
            </a:r>
          </a:p>
          <a:p>
            <a:pPr lvl="1"/>
            <a:r>
              <a:rPr lang="en-US" i="1" dirty="0"/>
              <a:t>Peer production, </a:t>
            </a:r>
            <a:r>
              <a:rPr lang="en-US" dirty="0"/>
              <a:t>relying on self-organizing communities of individuals</a:t>
            </a:r>
            <a:endParaRPr lang="en-US" i="1" dirty="0"/>
          </a:p>
        </p:txBody>
      </p:sp>
      <p:sp>
        <p:nvSpPr>
          <p:cNvPr id="4" name="Slide Number Placeholder 3">
            <a:extLst>
              <a:ext uri="{FF2B5EF4-FFF2-40B4-BE49-F238E27FC236}">
                <a16:creationId xmlns:a16="http://schemas.microsoft.com/office/drawing/2014/main" id="{122F83A7-B368-6B4C-B636-C57BF62E8A9B}"/>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9</a:t>
            </a:fld>
            <a:endParaRPr lang="en-US">
              <a:solidFill>
                <a:prstClr val="black">
                  <a:tint val="75000"/>
                </a:prstClr>
              </a:solidFill>
              <a:latin typeface="Calibri"/>
            </a:endParaRPr>
          </a:p>
        </p:txBody>
      </p:sp>
    </p:spTree>
    <p:extLst>
      <p:ext uri="{BB962C8B-B14F-4D97-AF65-F5344CB8AC3E}">
        <p14:creationId xmlns:p14="http://schemas.microsoft.com/office/powerpoint/2010/main" val="160081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00CE-2E00-2143-B7B4-7A7D6B56A002}"/>
              </a:ext>
            </a:extLst>
          </p:cNvPr>
          <p:cNvSpPr>
            <a:spLocks noGrp="1"/>
          </p:cNvSpPr>
          <p:nvPr>
            <p:ph type="title"/>
          </p:nvPr>
        </p:nvSpPr>
        <p:spPr/>
        <p:txBody>
          <a:bodyPr>
            <a:normAutofit/>
          </a:bodyPr>
          <a:lstStyle/>
          <a:p>
            <a:r>
              <a:rPr lang="en-US" sz="2800" dirty="0" err="1"/>
              <a:t>Github</a:t>
            </a:r>
            <a:r>
              <a:rPr lang="en-US" sz="2800" dirty="0"/>
              <a:t> provides a platform for version control and sharing projects</a:t>
            </a:r>
          </a:p>
        </p:txBody>
      </p:sp>
      <p:sp>
        <p:nvSpPr>
          <p:cNvPr id="3" name="Content Placeholder 2">
            <a:extLst>
              <a:ext uri="{FF2B5EF4-FFF2-40B4-BE49-F238E27FC236}">
                <a16:creationId xmlns:a16="http://schemas.microsoft.com/office/drawing/2014/main" id="{F99A2EA2-AB56-2E44-B730-3641AAE2E4F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AA27494-875C-614F-9083-C3070D8576F3}"/>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10</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0F0A78A8-D597-764A-8C2C-3B27D19806C5}"/>
              </a:ext>
            </a:extLst>
          </p:cNvPr>
          <p:cNvPicPr>
            <a:picLocks noChangeAspect="1"/>
          </p:cNvPicPr>
          <p:nvPr/>
        </p:nvPicPr>
        <p:blipFill>
          <a:blip r:embed="rId3"/>
          <a:stretch>
            <a:fillRect/>
          </a:stretch>
        </p:blipFill>
        <p:spPr>
          <a:xfrm>
            <a:off x="227098" y="1003305"/>
            <a:ext cx="11146643" cy="5122863"/>
          </a:xfrm>
          <a:prstGeom prst="rect">
            <a:avLst/>
          </a:prstGeom>
        </p:spPr>
      </p:pic>
    </p:spTree>
    <p:extLst>
      <p:ext uri="{BB962C8B-B14F-4D97-AF65-F5344CB8AC3E}">
        <p14:creationId xmlns:p14="http://schemas.microsoft.com/office/powerpoint/2010/main" val="194828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9373D-0210-7643-ACCA-836EC4E9D234}"/>
              </a:ext>
            </a:extLst>
          </p:cNvPr>
          <p:cNvSpPr>
            <a:spLocks noGrp="1"/>
          </p:cNvSpPr>
          <p:nvPr>
            <p:ph type="title"/>
          </p:nvPr>
        </p:nvSpPr>
        <p:spPr/>
        <p:txBody>
          <a:bodyPr/>
          <a:lstStyle/>
          <a:p>
            <a:r>
              <a:rPr lang="en-US" dirty="0" err="1"/>
              <a:t>Github</a:t>
            </a:r>
            <a:r>
              <a:rPr lang="en-US" dirty="0"/>
              <a:t> readme</a:t>
            </a:r>
          </a:p>
        </p:txBody>
      </p:sp>
      <p:sp>
        <p:nvSpPr>
          <p:cNvPr id="3" name="Content Placeholder 2">
            <a:extLst>
              <a:ext uri="{FF2B5EF4-FFF2-40B4-BE49-F238E27FC236}">
                <a16:creationId xmlns:a16="http://schemas.microsoft.com/office/drawing/2014/main" id="{35DDFE46-D404-FB49-8923-E4345CAF4A9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41ECFAF-40E9-2348-9339-863975476657}"/>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11</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A1FAA153-3CE7-994E-B753-076AA912B2E6}"/>
              </a:ext>
            </a:extLst>
          </p:cNvPr>
          <p:cNvPicPr>
            <a:picLocks noChangeAspect="1"/>
          </p:cNvPicPr>
          <p:nvPr/>
        </p:nvPicPr>
        <p:blipFill>
          <a:blip r:embed="rId3"/>
          <a:stretch>
            <a:fillRect/>
          </a:stretch>
        </p:blipFill>
        <p:spPr>
          <a:xfrm>
            <a:off x="1640377" y="917202"/>
            <a:ext cx="8251767" cy="5920142"/>
          </a:xfrm>
          <a:prstGeom prst="rect">
            <a:avLst/>
          </a:prstGeom>
        </p:spPr>
      </p:pic>
    </p:spTree>
    <p:extLst>
      <p:ext uri="{BB962C8B-B14F-4D97-AF65-F5344CB8AC3E}">
        <p14:creationId xmlns:p14="http://schemas.microsoft.com/office/powerpoint/2010/main" val="2085083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25DB-7819-3F40-87EB-BC58336A14E3}"/>
              </a:ext>
            </a:extLst>
          </p:cNvPr>
          <p:cNvSpPr>
            <a:spLocks noGrp="1"/>
          </p:cNvSpPr>
          <p:nvPr>
            <p:ph type="title"/>
          </p:nvPr>
        </p:nvSpPr>
        <p:spPr/>
        <p:txBody>
          <a:bodyPr/>
          <a:lstStyle/>
          <a:p>
            <a:r>
              <a:rPr lang="en-US" dirty="0"/>
              <a:t>Open-science best practices</a:t>
            </a:r>
          </a:p>
        </p:txBody>
      </p:sp>
      <p:sp>
        <p:nvSpPr>
          <p:cNvPr id="3" name="Content Placeholder 2">
            <a:extLst>
              <a:ext uri="{FF2B5EF4-FFF2-40B4-BE49-F238E27FC236}">
                <a16:creationId xmlns:a16="http://schemas.microsoft.com/office/drawing/2014/main" id="{C565E13E-6018-8548-895A-1268C144EF6E}"/>
              </a:ext>
            </a:extLst>
          </p:cNvPr>
          <p:cNvSpPr>
            <a:spLocks noGrp="1"/>
          </p:cNvSpPr>
          <p:nvPr>
            <p:ph idx="1"/>
          </p:nvPr>
        </p:nvSpPr>
        <p:spPr/>
        <p:txBody>
          <a:bodyPr/>
          <a:lstStyle/>
          <a:p>
            <a:r>
              <a:rPr lang="en-US" dirty="0"/>
              <a:t>Encourage all scientists to become responsible participants in the open source ecosystem</a:t>
            </a:r>
          </a:p>
          <a:p>
            <a:endParaRPr lang="en-US" dirty="0"/>
          </a:p>
          <a:p>
            <a:pPr lvl="1"/>
            <a:r>
              <a:rPr lang="en-US" dirty="0"/>
              <a:t>Contribute to “upstream” tools on which their research relies (not just code, but bug reports, docs, examples, tutorials, etc.)</a:t>
            </a:r>
          </a:p>
          <a:p>
            <a:pPr lvl="1"/>
            <a:endParaRPr lang="en-US" dirty="0"/>
          </a:p>
          <a:p>
            <a:r>
              <a:rPr lang="en-US" dirty="0"/>
              <a:t>Empower all scientists as data/software engineers</a:t>
            </a:r>
          </a:p>
          <a:p>
            <a:pPr lvl="1"/>
            <a:endParaRPr lang="en-US" dirty="0"/>
          </a:p>
          <a:p>
            <a:pPr lvl="1"/>
            <a:r>
              <a:rPr lang="en-US" dirty="0"/>
              <a:t>Learn best practices for sharing, testing, documenting, and collaborating on research software</a:t>
            </a:r>
          </a:p>
          <a:p>
            <a:pPr lvl="1"/>
            <a:r>
              <a:rPr lang="en-US" dirty="0"/>
              <a:t>Use these practices to transform how we share knowledge</a:t>
            </a:r>
          </a:p>
        </p:txBody>
      </p:sp>
      <p:sp>
        <p:nvSpPr>
          <p:cNvPr id="4" name="Slide Number Placeholder 3">
            <a:extLst>
              <a:ext uri="{FF2B5EF4-FFF2-40B4-BE49-F238E27FC236}">
                <a16:creationId xmlns:a16="http://schemas.microsoft.com/office/drawing/2014/main" id="{53B3E8AF-9F99-5C4A-8747-1BAAF4C6DE16}"/>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12</a:t>
            </a:fld>
            <a:endParaRPr lang="en-US">
              <a:solidFill>
                <a:prstClr val="black">
                  <a:tint val="75000"/>
                </a:prstClr>
              </a:solidFill>
              <a:latin typeface="Calibri"/>
            </a:endParaRPr>
          </a:p>
        </p:txBody>
      </p:sp>
    </p:spTree>
    <p:extLst>
      <p:ext uri="{BB962C8B-B14F-4D97-AF65-F5344CB8AC3E}">
        <p14:creationId xmlns:p14="http://schemas.microsoft.com/office/powerpoint/2010/main" val="2423832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22AB-BDEA-C848-AA91-E4345F5E1D97}"/>
              </a:ext>
            </a:extLst>
          </p:cNvPr>
          <p:cNvSpPr>
            <a:spLocks noGrp="1"/>
          </p:cNvSpPr>
          <p:nvPr>
            <p:ph type="title"/>
          </p:nvPr>
        </p:nvSpPr>
        <p:spPr/>
        <p:txBody>
          <a:bodyPr/>
          <a:lstStyle/>
          <a:p>
            <a:r>
              <a:rPr lang="en-US" dirty="0"/>
              <a:t>Solution: high performance computing (HPC)</a:t>
            </a:r>
          </a:p>
        </p:txBody>
      </p:sp>
      <p:sp>
        <p:nvSpPr>
          <p:cNvPr id="4" name="Slide Number Placeholder 3">
            <a:extLst>
              <a:ext uri="{FF2B5EF4-FFF2-40B4-BE49-F238E27FC236}">
                <a16:creationId xmlns:a16="http://schemas.microsoft.com/office/drawing/2014/main" id="{F94FFD61-5E07-C140-8193-9B749805098E}"/>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13</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67439636-BDF1-9C4F-A71A-977749E8F15A}"/>
              </a:ext>
            </a:extLst>
          </p:cNvPr>
          <p:cNvPicPr>
            <a:picLocks noChangeAspect="1"/>
          </p:cNvPicPr>
          <p:nvPr/>
        </p:nvPicPr>
        <p:blipFill>
          <a:blip r:embed="rId3"/>
          <a:stretch>
            <a:fillRect/>
          </a:stretch>
        </p:blipFill>
        <p:spPr>
          <a:xfrm>
            <a:off x="893329" y="893656"/>
            <a:ext cx="10405341" cy="5827839"/>
          </a:xfrm>
          <a:prstGeom prst="rect">
            <a:avLst/>
          </a:prstGeom>
        </p:spPr>
      </p:pic>
    </p:spTree>
    <p:extLst>
      <p:ext uri="{BB962C8B-B14F-4D97-AF65-F5344CB8AC3E}">
        <p14:creationId xmlns:p14="http://schemas.microsoft.com/office/powerpoint/2010/main" val="2588914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E387F-2558-734F-9E2E-309C7B31FA61}"/>
              </a:ext>
            </a:extLst>
          </p:cNvPr>
          <p:cNvSpPr>
            <a:spLocks noGrp="1"/>
          </p:cNvSpPr>
          <p:nvPr>
            <p:ph type="title"/>
          </p:nvPr>
        </p:nvSpPr>
        <p:spPr/>
        <p:txBody>
          <a:bodyPr/>
          <a:lstStyle/>
          <a:p>
            <a:r>
              <a:rPr lang="en-US" dirty="0"/>
              <a:t>High performance computing</a:t>
            </a:r>
          </a:p>
        </p:txBody>
      </p:sp>
      <p:sp>
        <p:nvSpPr>
          <p:cNvPr id="3" name="Content Placeholder 2">
            <a:extLst>
              <a:ext uri="{FF2B5EF4-FFF2-40B4-BE49-F238E27FC236}">
                <a16:creationId xmlns:a16="http://schemas.microsoft.com/office/drawing/2014/main" id="{C92E7101-3ADD-C44A-8B15-2CEE842CD284}"/>
              </a:ext>
            </a:extLst>
          </p:cNvPr>
          <p:cNvSpPr>
            <a:spLocks noGrp="1"/>
          </p:cNvSpPr>
          <p:nvPr>
            <p:ph idx="1"/>
          </p:nvPr>
        </p:nvSpPr>
        <p:spPr>
          <a:xfrm>
            <a:off x="609600" y="1003306"/>
            <a:ext cx="5883965" cy="5122863"/>
          </a:xfrm>
        </p:spPr>
        <p:txBody>
          <a:bodyPr>
            <a:normAutofit fontScale="92500" lnSpcReduction="10000"/>
          </a:bodyPr>
          <a:lstStyle/>
          <a:p>
            <a:pPr marL="342900" lvl="0" indent="-292100" algn="l" rtl="0">
              <a:spcBef>
                <a:spcPts val="560"/>
              </a:spcBef>
              <a:spcAft>
                <a:spcPts val="0"/>
              </a:spcAft>
              <a:buClr>
                <a:srgbClr val="4D4D4D"/>
              </a:buClr>
              <a:buSzPts val="2400"/>
              <a:buFont typeface="Calibri"/>
              <a:buChar char="•"/>
            </a:pPr>
            <a:r>
              <a:rPr lang="en-US" sz="2400" dirty="0">
                <a:latin typeface="Calibri"/>
                <a:ea typeface="Calibri"/>
                <a:cs typeface="Calibri"/>
                <a:sym typeface="Calibri"/>
              </a:rPr>
              <a:t>Research problems that use computing can outgrow the desktop or laptop computer where they started.</a:t>
            </a:r>
          </a:p>
          <a:p>
            <a:pPr marL="742950" lvl="1" indent="-336550" algn="l" rtl="0">
              <a:spcBef>
                <a:spcPts val="560"/>
              </a:spcBef>
              <a:spcAft>
                <a:spcPts val="0"/>
              </a:spcAft>
              <a:buSzPts val="2400"/>
              <a:buFont typeface="Calibri"/>
              <a:buChar char="–"/>
            </a:pPr>
            <a:r>
              <a:rPr lang="en-US" sz="2400" dirty="0">
                <a:latin typeface="Calibri"/>
                <a:ea typeface="Calibri"/>
                <a:cs typeface="Calibri"/>
                <a:sym typeface="Calibri"/>
              </a:rPr>
              <a:t>HPC to the rescue!</a:t>
            </a:r>
            <a:endParaRPr lang="en-US" sz="2800" dirty="0"/>
          </a:p>
          <a:p>
            <a:pPr marL="342900" lvl="0" indent="-317500" algn="l" rtl="0">
              <a:spcBef>
                <a:spcPts val="560"/>
              </a:spcBef>
              <a:spcAft>
                <a:spcPts val="0"/>
              </a:spcAft>
              <a:buSzPts val="2400"/>
              <a:buFont typeface="Calibri"/>
              <a:buChar char="•"/>
            </a:pPr>
            <a:r>
              <a:rPr lang="en-US" sz="2800" dirty="0">
                <a:latin typeface="Calibri"/>
                <a:ea typeface="Calibri"/>
                <a:cs typeface="Calibri"/>
                <a:sym typeface="Calibri"/>
              </a:rPr>
              <a:t>A </a:t>
            </a:r>
            <a:r>
              <a:rPr lang="en-US" sz="2800" b="1" dirty="0">
                <a:latin typeface="Calibri"/>
                <a:ea typeface="Calibri"/>
                <a:cs typeface="Calibri"/>
                <a:sym typeface="Calibri"/>
              </a:rPr>
              <a:t>High Performance Computing cluster</a:t>
            </a:r>
            <a:r>
              <a:rPr lang="en-US" sz="2800" dirty="0">
                <a:latin typeface="Calibri"/>
                <a:ea typeface="Calibri"/>
                <a:cs typeface="Calibri"/>
                <a:sym typeface="Calibri"/>
              </a:rPr>
              <a:t> or </a:t>
            </a:r>
            <a:r>
              <a:rPr lang="en-US" sz="2800" b="1" dirty="0">
                <a:latin typeface="Calibri"/>
                <a:ea typeface="Calibri"/>
                <a:cs typeface="Calibri"/>
                <a:sym typeface="Calibri"/>
              </a:rPr>
              <a:t>supercomputer </a:t>
            </a:r>
            <a:r>
              <a:rPr lang="en-US" sz="2800" dirty="0">
                <a:latin typeface="Calibri"/>
                <a:ea typeface="Calibri"/>
                <a:cs typeface="Calibri"/>
                <a:sym typeface="Calibri"/>
              </a:rPr>
              <a:t>consists of many compute servers that are networked together. </a:t>
            </a:r>
          </a:p>
          <a:p>
            <a:pPr marL="342900" lvl="0" indent="-317500" algn="l" rtl="0">
              <a:spcBef>
                <a:spcPts val="560"/>
              </a:spcBef>
              <a:spcAft>
                <a:spcPts val="0"/>
              </a:spcAft>
              <a:buSzPts val="2400"/>
              <a:buFont typeface="Calibri"/>
              <a:buChar char="•"/>
            </a:pPr>
            <a:r>
              <a:rPr lang="en-US" sz="2800" dirty="0">
                <a:latin typeface="Calibri"/>
                <a:ea typeface="Calibri"/>
                <a:cs typeface="Calibri"/>
                <a:sym typeface="Calibri"/>
              </a:rPr>
              <a:t>Each server is called a </a:t>
            </a:r>
            <a:r>
              <a:rPr lang="en-US" sz="2800" b="1" dirty="0">
                <a:latin typeface="Calibri"/>
                <a:ea typeface="Calibri"/>
                <a:cs typeface="Calibri"/>
                <a:sym typeface="Calibri"/>
              </a:rPr>
              <a:t>node</a:t>
            </a:r>
            <a:r>
              <a:rPr lang="en-US" sz="2800" dirty="0">
                <a:latin typeface="Calibri"/>
                <a:ea typeface="Calibri"/>
                <a:cs typeface="Calibri"/>
                <a:sym typeface="Calibri"/>
              </a:rPr>
              <a:t>. </a:t>
            </a:r>
          </a:p>
          <a:p>
            <a:pPr marL="342900" lvl="0" indent="-317500" algn="l" rtl="0">
              <a:spcBef>
                <a:spcPts val="560"/>
              </a:spcBef>
              <a:spcAft>
                <a:spcPts val="0"/>
              </a:spcAft>
              <a:buSzPts val="2400"/>
              <a:buFont typeface="Calibri"/>
              <a:buChar char="•"/>
            </a:pPr>
            <a:r>
              <a:rPr lang="en-US" sz="2800" dirty="0">
                <a:latin typeface="Calibri"/>
                <a:ea typeface="Calibri"/>
                <a:cs typeface="Calibri"/>
                <a:sym typeface="Calibri"/>
              </a:rPr>
              <a:t>The nodes in each cluster work in </a:t>
            </a:r>
            <a:r>
              <a:rPr lang="en-US" sz="2800" b="1" dirty="0">
                <a:latin typeface="Calibri"/>
                <a:ea typeface="Calibri"/>
                <a:cs typeface="Calibri"/>
                <a:sym typeface="Calibri"/>
              </a:rPr>
              <a:t>parallel </a:t>
            </a:r>
            <a:r>
              <a:rPr lang="en-US" sz="2800" dirty="0">
                <a:latin typeface="Calibri"/>
                <a:ea typeface="Calibri"/>
                <a:cs typeface="Calibri"/>
                <a:sym typeface="Calibri"/>
              </a:rPr>
              <a:t>with each other, boosting processing speed to deliver high-performance computing. </a:t>
            </a:r>
            <a:endParaRPr lang="en-US" sz="3600" dirty="0"/>
          </a:p>
        </p:txBody>
      </p:sp>
      <p:sp>
        <p:nvSpPr>
          <p:cNvPr id="4" name="Slide Number Placeholder 3">
            <a:extLst>
              <a:ext uri="{FF2B5EF4-FFF2-40B4-BE49-F238E27FC236}">
                <a16:creationId xmlns:a16="http://schemas.microsoft.com/office/drawing/2014/main" id="{10FFD597-CB53-8C48-B39B-5BE9EC38BB68}"/>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14</a:t>
            </a:fld>
            <a:endParaRPr lang="en-US">
              <a:solidFill>
                <a:prstClr val="black">
                  <a:tint val="75000"/>
                </a:prstClr>
              </a:solidFill>
              <a:latin typeface="Calibri"/>
            </a:endParaRPr>
          </a:p>
        </p:txBody>
      </p:sp>
      <p:pic>
        <p:nvPicPr>
          <p:cNvPr id="5" name="Google Shape;274;p41" descr="C:\Local\Rob\Workshops\Habanero Info 2017-01-31\_dsc0009_32368849245_o.jpg">
            <a:extLst>
              <a:ext uri="{FF2B5EF4-FFF2-40B4-BE49-F238E27FC236}">
                <a16:creationId xmlns:a16="http://schemas.microsoft.com/office/drawing/2014/main" id="{15B40F3E-9CAE-6B47-B462-31A690E77A88}"/>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6667747" y="1790700"/>
            <a:ext cx="4914653" cy="3276600"/>
          </a:xfrm>
          <a:prstGeom prst="rect">
            <a:avLst/>
          </a:prstGeom>
          <a:noFill/>
          <a:ln>
            <a:noFill/>
          </a:ln>
        </p:spPr>
      </p:pic>
    </p:spTree>
    <p:extLst>
      <p:ext uri="{BB962C8B-B14F-4D97-AF65-F5344CB8AC3E}">
        <p14:creationId xmlns:p14="http://schemas.microsoft.com/office/powerpoint/2010/main" val="1636381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C710B-B55F-084C-B135-698376B1B237}"/>
              </a:ext>
            </a:extLst>
          </p:cNvPr>
          <p:cNvSpPr>
            <a:spLocks noGrp="1"/>
          </p:cNvSpPr>
          <p:nvPr>
            <p:ph type="title"/>
          </p:nvPr>
        </p:nvSpPr>
        <p:spPr/>
        <p:txBody>
          <a:bodyPr/>
          <a:lstStyle/>
          <a:p>
            <a:r>
              <a:rPr lang="en-US" dirty="0"/>
              <a:t>HPC in this class</a:t>
            </a:r>
          </a:p>
        </p:txBody>
      </p:sp>
      <p:sp>
        <p:nvSpPr>
          <p:cNvPr id="3" name="Content Placeholder 2">
            <a:extLst>
              <a:ext uri="{FF2B5EF4-FFF2-40B4-BE49-F238E27FC236}">
                <a16:creationId xmlns:a16="http://schemas.microsoft.com/office/drawing/2014/main" id="{327F690D-10BA-1D4C-9883-1C1F2354212C}"/>
              </a:ext>
            </a:extLst>
          </p:cNvPr>
          <p:cNvSpPr>
            <a:spLocks noGrp="1"/>
          </p:cNvSpPr>
          <p:nvPr>
            <p:ph idx="1"/>
          </p:nvPr>
        </p:nvSpPr>
        <p:spPr/>
        <p:txBody>
          <a:bodyPr/>
          <a:lstStyle/>
          <a:p>
            <a:r>
              <a:rPr lang="en-US" dirty="0"/>
              <a:t>We will be using a LDEO-based HPC called “</a:t>
            </a:r>
            <a:r>
              <a:rPr lang="en-US" dirty="0" err="1"/>
              <a:t>chopin</a:t>
            </a:r>
            <a:r>
              <a:rPr lang="en-US" dirty="0"/>
              <a:t>”</a:t>
            </a:r>
          </a:p>
          <a:p>
            <a:pPr lvl="1"/>
            <a:r>
              <a:rPr lang="en-US" dirty="0"/>
              <a:t>Purchased in 2017, used for research for ~6 years</a:t>
            </a:r>
          </a:p>
          <a:p>
            <a:pPr lvl="1"/>
            <a:r>
              <a:rPr lang="en-US" dirty="0"/>
              <a:t>32 CPUs, 3.2 GHz</a:t>
            </a:r>
          </a:p>
          <a:p>
            <a:pPr lvl="1"/>
            <a:r>
              <a:rPr lang="en-US" dirty="0"/>
              <a:t>256 GB memory per CPU</a:t>
            </a:r>
          </a:p>
          <a:p>
            <a:pPr lvl="1"/>
            <a:r>
              <a:rPr lang="en-US" dirty="0"/>
              <a:t>Gigabit ethernet connection</a:t>
            </a:r>
          </a:p>
          <a:p>
            <a:pPr lvl="1"/>
            <a:r>
              <a:rPr lang="en-US" b="0" i="0" dirty="0">
                <a:solidFill>
                  <a:srgbClr val="222222"/>
                </a:solidFill>
                <a:effectLst/>
                <a:latin typeface="Arial" panose="020B0604020202020204" pitchFamily="34" charset="0"/>
              </a:rPr>
              <a:t>Ubuntu 22.04</a:t>
            </a:r>
          </a:p>
          <a:p>
            <a:pPr lvl="1"/>
            <a:endParaRPr lang="en-US" dirty="0">
              <a:solidFill>
                <a:srgbClr val="222222"/>
              </a:solidFill>
              <a:latin typeface="Arial" panose="020B0604020202020204" pitchFamily="34" charset="0"/>
            </a:endParaRPr>
          </a:p>
          <a:p>
            <a:r>
              <a:rPr lang="en-US" dirty="0" err="1">
                <a:solidFill>
                  <a:srgbClr val="222222"/>
                </a:solidFill>
                <a:latin typeface="Arial" panose="020B0604020202020204" pitchFamily="34" charset="0"/>
              </a:rPr>
              <a:t>JupyterHub</a:t>
            </a:r>
            <a:endParaRPr lang="en-US" dirty="0">
              <a:solidFill>
                <a:srgbClr val="222222"/>
              </a:solidFill>
              <a:latin typeface="Arial" panose="020B0604020202020204" pitchFamily="34" charset="0"/>
            </a:endParaRPr>
          </a:p>
          <a:p>
            <a:pPr lvl="1"/>
            <a:r>
              <a:rPr lang="en-US" dirty="0">
                <a:solidFill>
                  <a:srgbClr val="222222"/>
                </a:solidFill>
                <a:latin typeface="Arial" panose="020B0604020202020204" pitchFamily="34" charset="0"/>
              </a:rPr>
              <a:t>A unified coding environment</a:t>
            </a:r>
            <a:endParaRPr lang="en-US" dirty="0"/>
          </a:p>
        </p:txBody>
      </p:sp>
      <p:sp>
        <p:nvSpPr>
          <p:cNvPr id="4" name="Slide Number Placeholder 3">
            <a:extLst>
              <a:ext uri="{FF2B5EF4-FFF2-40B4-BE49-F238E27FC236}">
                <a16:creationId xmlns:a16="http://schemas.microsoft.com/office/drawing/2014/main" id="{0FC6D775-04D3-2741-B438-AF4A928813E0}"/>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15</a:t>
            </a:fld>
            <a:endParaRPr lang="en-US">
              <a:solidFill>
                <a:prstClr val="black">
                  <a:tint val="75000"/>
                </a:prstClr>
              </a:solidFill>
              <a:latin typeface="Calibri"/>
            </a:endParaRPr>
          </a:p>
        </p:txBody>
      </p:sp>
      <p:pic>
        <p:nvPicPr>
          <p:cNvPr id="7" name="Picture 6">
            <a:extLst>
              <a:ext uri="{FF2B5EF4-FFF2-40B4-BE49-F238E27FC236}">
                <a16:creationId xmlns:a16="http://schemas.microsoft.com/office/drawing/2014/main" id="{BD6EBD2A-57CE-E341-B869-C0C97CAEC4A8}"/>
              </a:ext>
            </a:extLst>
          </p:cNvPr>
          <p:cNvPicPr>
            <a:picLocks noChangeAspect="1"/>
          </p:cNvPicPr>
          <p:nvPr/>
        </p:nvPicPr>
        <p:blipFill>
          <a:blip r:embed="rId2"/>
          <a:stretch>
            <a:fillRect/>
          </a:stretch>
        </p:blipFill>
        <p:spPr>
          <a:xfrm>
            <a:off x="6623050" y="4027556"/>
            <a:ext cx="4229100" cy="1930400"/>
          </a:xfrm>
          <a:prstGeom prst="rect">
            <a:avLst/>
          </a:prstGeom>
        </p:spPr>
      </p:pic>
    </p:spTree>
    <p:extLst>
      <p:ext uri="{BB962C8B-B14F-4D97-AF65-F5344CB8AC3E}">
        <p14:creationId xmlns:p14="http://schemas.microsoft.com/office/powerpoint/2010/main" val="684985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EC37-2976-A449-ADDF-249C3CFE18D2}"/>
              </a:ext>
            </a:extLst>
          </p:cNvPr>
          <p:cNvSpPr>
            <a:spLocks noGrp="1"/>
          </p:cNvSpPr>
          <p:nvPr>
            <p:ph type="title"/>
          </p:nvPr>
        </p:nvSpPr>
        <p:spPr/>
        <p:txBody>
          <a:bodyPr/>
          <a:lstStyle/>
          <a:p>
            <a:r>
              <a:rPr lang="en-US" dirty="0"/>
              <a:t>What is “big data”? </a:t>
            </a:r>
          </a:p>
        </p:txBody>
      </p:sp>
      <p:sp>
        <p:nvSpPr>
          <p:cNvPr id="3" name="Content Placeholder 2">
            <a:extLst>
              <a:ext uri="{FF2B5EF4-FFF2-40B4-BE49-F238E27FC236}">
                <a16:creationId xmlns:a16="http://schemas.microsoft.com/office/drawing/2014/main" id="{1E50EDA5-B967-EB47-B719-4322A2362169}"/>
              </a:ext>
            </a:extLst>
          </p:cNvPr>
          <p:cNvSpPr>
            <a:spLocks noGrp="1"/>
          </p:cNvSpPr>
          <p:nvPr>
            <p:ph idx="1"/>
          </p:nvPr>
        </p:nvSpPr>
        <p:spPr/>
        <p:txBody>
          <a:bodyPr/>
          <a:lstStyle/>
          <a:p>
            <a:r>
              <a:rPr lang="en-US" dirty="0"/>
              <a:t>“Big data” are data that can be described by the four Vs:</a:t>
            </a:r>
          </a:p>
          <a:p>
            <a:pPr lvl="1"/>
            <a:r>
              <a:rPr lang="en-US" dirty="0"/>
              <a:t>volume – the datasets are large</a:t>
            </a:r>
          </a:p>
          <a:p>
            <a:pPr lvl="1"/>
            <a:r>
              <a:rPr lang="en-US" dirty="0"/>
              <a:t>variety – the datasets may have different formats or types of data</a:t>
            </a:r>
          </a:p>
          <a:p>
            <a:pPr lvl="1"/>
            <a:r>
              <a:rPr lang="en-US" dirty="0"/>
              <a:t>velocity – the data arrive quickly</a:t>
            </a:r>
          </a:p>
          <a:p>
            <a:pPr lvl="1"/>
            <a:r>
              <a:rPr lang="en-US" dirty="0"/>
              <a:t>veracity – there may be uncertainty about the quality of the data or its availability</a:t>
            </a:r>
          </a:p>
          <a:p>
            <a:endParaRPr lang="en-US" dirty="0"/>
          </a:p>
        </p:txBody>
      </p:sp>
      <p:sp>
        <p:nvSpPr>
          <p:cNvPr id="4" name="Slide Number Placeholder 3">
            <a:extLst>
              <a:ext uri="{FF2B5EF4-FFF2-40B4-BE49-F238E27FC236}">
                <a16:creationId xmlns:a16="http://schemas.microsoft.com/office/drawing/2014/main" id="{9C82EC5E-891D-2F40-B377-19218D0C0F23}"/>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16</a:t>
            </a:fld>
            <a:endParaRPr lang="en-US">
              <a:solidFill>
                <a:prstClr val="black">
                  <a:tint val="75000"/>
                </a:prstClr>
              </a:solidFill>
              <a:latin typeface="Calibri"/>
            </a:endParaRPr>
          </a:p>
        </p:txBody>
      </p:sp>
    </p:spTree>
    <p:extLst>
      <p:ext uri="{BB962C8B-B14F-4D97-AF65-F5344CB8AC3E}">
        <p14:creationId xmlns:p14="http://schemas.microsoft.com/office/powerpoint/2010/main" val="3140091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F4507-66DD-0740-8F74-0BD3EC2A9DF7}"/>
              </a:ext>
            </a:extLst>
          </p:cNvPr>
          <p:cNvSpPr>
            <a:spLocks noGrp="1"/>
          </p:cNvSpPr>
          <p:nvPr>
            <p:ph type="title"/>
          </p:nvPr>
        </p:nvSpPr>
        <p:spPr/>
        <p:txBody>
          <a:bodyPr>
            <a:normAutofit fontScale="90000"/>
          </a:bodyPr>
          <a:lstStyle/>
          <a:p>
            <a:r>
              <a:rPr lang="en-US" dirty="0"/>
              <a:t>Big data example: Sep 2019 – Jan 2020 wildfires in Australia</a:t>
            </a:r>
          </a:p>
        </p:txBody>
      </p:sp>
      <p:pic>
        <p:nvPicPr>
          <p:cNvPr id="6" name="Content Placeholder 5">
            <a:extLst>
              <a:ext uri="{FF2B5EF4-FFF2-40B4-BE49-F238E27FC236}">
                <a16:creationId xmlns:a16="http://schemas.microsoft.com/office/drawing/2014/main" id="{C5FECEF1-F65A-F74B-8E01-3C19007A35D9}"/>
              </a:ext>
            </a:extLst>
          </p:cNvPr>
          <p:cNvPicPr>
            <a:picLocks noGrp="1" noChangeAspect="1"/>
          </p:cNvPicPr>
          <p:nvPr>
            <p:ph idx="1"/>
          </p:nvPr>
        </p:nvPicPr>
        <p:blipFill>
          <a:blip r:embed="rId2"/>
          <a:stretch>
            <a:fillRect/>
          </a:stretch>
        </p:blipFill>
        <p:spPr>
          <a:xfrm>
            <a:off x="1018078" y="1108094"/>
            <a:ext cx="4902200" cy="4902200"/>
          </a:xfrm>
        </p:spPr>
      </p:pic>
      <p:sp>
        <p:nvSpPr>
          <p:cNvPr id="4" name="Slide Number Placeholder 3">
            <a:extLst>
              <a:ext uri="{FF2B5EF4-FFF2-40B4-BE49-F238E27FC236}">
                <a16:creationId xmlns:a16="http://schemas.microsoft.com/office/drawing/2014/main" id="{25EE08AD-5293-8942-9CFB-438DE3E65284}"/>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17</a:t>
            </a:fld>
            <a:endParaRPr lang="en-US">
              <a:solidFill>
                <a:prstClr val="black">
                  <a:tint val="75000"/>
                </a:prstClr>
              </a:solidFill>
              <a:latin typeface="Calibri"/>
            </a:endParaRPr>
          </a:p>
        </p:txBody>
      </p:sp>
      <p:sp>
        <p:nvSpPr>
          <p:cNvPr id="7" name="TextBox 6">
            <a:extLst>
              <a:ext uri="{FF2B5EF4-FFF2-40B4-BE49-F238E27FC236}">
                <a16:creationId xmlns:a16="http://schemas.microsoft.com/office/drawing/2014/main" id="{5574CBAF-531F-2D44-9821-31976F03FC3B}"/>
              </a:ext>
            </a:extLst>
          </p:cNvPr>
          <p:cNvSpPr txBox="1"/>
          <p:nvPr/>
        </p:nvSpPr>
        <p:spPr>
          <a:xfrm>
            <a:off x="6957391" y="2332383"/>
            <a:ext cx="4041913" cy="369332"/>
          </a:xfrm>
          <a:prstGeom prst="rect">
            <a:avLst/>
          </a:prstGeom>
          <a:noFill/>
        </p:spPr>
        <p:txBody>
          <a:bodyPr wrap="square" rtlCol="0">
            <a:spAutoFit/>
          </a:bodyPr>
          <a:lstStyle/>
          <a:p>
            <a:r>
              <a:rPr lang="en-US" dirty="0"/>
              <a:t>NASA worldview: ~1.2 PB (10</a:t>
            </a:r>
            <a:r>
              <a:rPr lang="en-US" baseline="30000" dirty="0"/>
              <a:t>15</a:t>
            </a:r>
            <a:r>
              <a:rPr lang="en-US" dirty="0"/>
              <a:t>) per year</a:t>
            </a:r>
            <a:endParaRPr lang="en-US" baseline="30000" dirty="0"/>
          </a:p>
        </p:txBody>
      </p:sp>
      <p:sp>
        <p:nvSpPr>
          <p:cNvPr id="9" name="TextBox 8">
            <a:extLst>
              <a:ext uri="{FF2B5EF4-FFF2-40B4-BE49-F238E27FC236}">
                <a16:creationId xmlns:a16="http://schemas.microsoft.com/office/drawing/2014/main" id="{9CEB09B7-0908-454B-913A-EEADC1CCFF9E}"/>
              </a:ext>
            </a:extLst>
          </p:cNvPr>
          <p:cNvSpPr txBox="1"/>
          <p:nvPr/>
        </p:nvSpPr>
        <p:spPr>
          <a:xfrm>
            <a:off x="6732104" y="3189862"/>
            <a:ext cx="6096000" cy="369332"/>
          </a:xfrm>
          <a:prstGeom prst="rect">
            <a:avLst/>
          </a:prstGeom>
          <a:noFill/>
        </p:spPr>
        <p:txBody>
          <a:bodyPr wrap="square">
            <a:spAutoFit/>
          </a:bodyPr>
          <a:lstStyle/>
          <a:p>
            <a:r>
              <a:rPr lang="en-US" dirty="0"/>
              <a:t>https://</a:t>
            </a:r>
            <a:r>
              <a:rPr lang="en-US" dirty="0" err="1"/>
              <a:t>worldview.earthdata.nasa.gov</a:t>
            </a:r>
            <a:r>
              <a:rPr lang="en-US" dirty="0"/>
              <a:t>/</a:t>
            </a:r>
          </a:p>
        </p:txBody>
      </p:sp>
    </p:spTree>
    <p:extLst>
      <p:ext uri="{BB962C8B-B14F-4D97-AF65-F5344CB8AC3E}">
        <p14:creationId xmlns:p14="http://schemas.microsoft.com/office/powerpoint/2010/main" val="903457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3A96-BE6B-AA4D-93DB-4BFC1ECEB69B}"/>
              </a:ext>
            </a:extLst>
          </p:cNvPr>
          <p:cNvSpPr>
            <a:spLocks noGrp="1"/>
          </p:cNvSpPr>
          <p:nvPr>
            <p:ph type="title"/>
          </p:nvPr>
        </p:nvSpPr>
        <p:spPr/>
        <p:txBody>
          <a:bodyPr/>
          <a:lstStyle/>
          <a:p>
            <a:r>
              <a:rPr lang="en-US" dirty="0"/>
              <a:t>Important links</a:t>
            </a:r>
          </a:p>
        </p:txBody>
      </p:sp>
      <p:sp>
        <p:nvSpPr>
          <p:cNvPr id="3" name="Content Placeholder 2">
            <a:extLst>
              <a:ext uri="{FF2B5EF4-FFF2-40B4-BE49-F238E27FC236}">
                <a16:creationId xmlns:a16="http://schemas.microsoft.com/office/drawing/2014/main" id="{E3504853-3467-CA43-85D8-84ED7B47DBBF}"/>
              </a:ext>
            </a:extLst>
          </p:cNvPr>
          <p:cNvSpPr>
            <a:spLocks noGrp="1"/>
          </p:cNvSpPr>
          <p:nvPr>
            <p:ph idx="1"/>
          </p:nvPr>
        </p:nvSpPr>
        <p:spPr/>
        <p:txBody>
          <a:bodyPr/>
          <a:lstStyle/>
          <a:p>
            <a:r>
              <a:rPr lang="en-US" dirty="0"/>
              <a:t>Class </a:t>
            </a:r>
            <a:r>
              <a:rPr lang="en-US" dirty="0" err="1"/>
              <a:t>jupyterhub</a:t>
            </a:r>
            <a:endParaRPr lang="en-US" dirty="0"/>
          </a:p>
          <a:p>
            <a:pPr lvl="1"/>
            <a:r>
              <a:rPr lang="en-US" b="0" i="0" dirty="0">
                <a:solidFill>
                  <a:srgbClr val="1155CC"/>
                </a:solidFill>
                <a:effectLst/>
                <a:latin typeface="Arial" panose="020B0604020202020204" pitchFamily="34" charset="0"/>
                <a:hlinkClick r:id="rId2"/>
              </a:rPr>
              <a:t>https://chopin.ldeo.columbia.edu:8441/jupyterhub/</a:t>
            </a:r>
            <a:endParaRPr lang="en-US" b="0" i="0" dirty="0">
              <a:solidFill>
                <a:srgbClr val="1155CC"/>
              </a:solidFill>
              <a:effectLst/>
              <a:latin typeface="Arial" panose="020B0604020202020204" pitchFamily="34" charset="0"/>
            </a:endParaRPr>
          </a:p>
          <a:p>
            <a:pPr lvl="1"/>
            <a:r>
              <a:rPr lang="en-US" dirty="0">
                <a:latin typeface="Arial" panose="020B0604020202020204" pitchFamily="34" charset="0"/>
              </a:rPr>
              <a:t>Log in with your username and password (these will be sent to you this week)</a:t>
            </a:r>
          </a:p>
          <a:p>
            <a:pPr lvl="1"/>
            <a:endParaRPr lang="en-US" dirty="0">
              <a:latin typeface="Arial" panose="020B0604020202020204" pitchFamily="34" charset="0"/>
            </a:endParaRPr>
          </a:p>
          <a:p>
            <a:r>
              <a:rPr lang="en-US" dirty="0" err="1">
                <a:latin typeface="Arial" panose="020B0604020202020204" pitchFamily="34" charset="0"/>
              </a:rPr>
              <a:t>Courseworks</a:t>
            </a:r>
            <a:endParaRPr lang="en-US" dirty="0">
              <a:latin typeface="Arial" panose="020B0604020202020204" pitchFamily="34" charset="0"/>
            </a:endParaRPr>
          </a:p>
          <a:p>
            <a:pPr lvl="1"/>
            <a:r>
              <a:rPr lang="en-US" dirty="0">
                <a:latin typeface="Arial" panose="020B0604020202020204" pitchFamily="34" charset="0"/>
              </a:rPr>
              <a:t>https://courseworks2.columbia.edu/courses/207974</a:t>
            </a:r>
          </a:p>
          <a:p>
            <a:pPr marL="0" indent="0">
              <a:buNone/>
            </a:pPr>
            <a:endParaRPr lang="en-US" dirty="0">
              <a:latin typeface="Arial" panose="020B0604020202020204" pitchFamily="34" charset="0"/>
            </a:endParaRPr>
          </a:p>
          <a:p>
            <a:pPr marL="0" indent="0">
              <a:buNone/>
            </a:pPr>
            <a:endParaRPr lang="en-US" dirty="0">
              <a:latin typeface="Arial" panose="020B0604020202020204" pitchFamily="34" charset="0"/>
            </a:endParaRPr>
          </a:p>
        </p:txBody>
      </p:sp>
      <p:sp>
        <p:nvSpPr>
          <p:cNvPr id="4" name="Slide Number Placeholder 3">
            <a:extLst>
              <a:ext uri="{FF2B5EF4-FFF2-40B4-BE49-F238E27FC236}">
                <a16:creationId xmlns:a16="http://schemas.microsoft.com/office/drawing/2014/main" id="{184FBFB0-C9D6-2E40-AF11-617BEA2FBBB8}"/>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18</a:t>
            </a:fld>
            <a:endParaRPr lang="en-US">
              <a:solidFill>
                <a:prstClr val="black">
                  <a:tint val="75000"/>
                </a:prstClr>
              </a:solidFill>
              <a:latin typeface="Calibri"/>
            </a:endParaRPr>
          </a:p>
        </p:txBody>
      </p:sp>
    </p:spTree>
    <p:extLst>
      <p:ext uri="{BB962C8B-B14F-4D97-AF65-F5344CB8AC3E}">
        <p14:creationId xmlns:p14="http://schemas.microsoft.com/office/powerpoint/2010/main" val="3261770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21E83-0F83-C441-B8C0-4C22407C4B53}"/>
              </a:ext>
            </a:extLst>
          </p:cNvPr>
          <p:cNvSpPr>
            <a:spLocks noGrp="1"/>
          </p:cNvSpPr>
          <p:nvPr>
            <p:ph type="title"/>
          </p:nvPr>
        </p:nvSpPr>
        <p:spPr/>
        <p:txBody>
          <a:bodyPr/>
          <a:lstStyle/>
          <a:p>
            <a:r>
              <a:rPr lang="en-US" dirty="0"/>
              <a:t>Gaining access to the </a:t>
            </a:r>
            <a:r>
              <a:rPr lang="en-US" dirty="0" err="1"/>
              <a:t>jupyterhub</a:t>
            </a:r>
            <a:endParaRPr lang="en-US" dirty="0"/>
          </a:p>
        </p:txBody>
      </p:sp>
      <p:sp>
        <p:nvSpPr>
          <p:cNvPr id="3" name="Content Placeholder 2">
            <a:extLst>
              <a:ext uri="{FF2B5EF4-FFF2-40B4-BE49-F238E27FC236}">
                <a16:creationId xmlns:a16="http://schemas.microsoft.com/office/drawing/2014/main" id="{3D722156-A2CA-334E-ADD7-0B64CF470F9C}"/>
              </a:ext>
            </a:extLst>
          </p:cNvPr>
          <p:cNvSpPr>
            <a:spLocks noGrp="1"/>
          </p:cNvSpPr>
          <p:nvPr>
            <p:ph idx="1"/>
          </p:nvPr>
        </p:nvSpPr>
        <p:spPr/>
        <p:txBody>
          <a:bodyPr/>
          <a:lstStyle/>
          <a:p>
            <a:r>
              <a:rPr lang="en-US" dirty="0"/>
              <a:t>Look for an email from Dr. Gus Correa with your “</a:t>
            </a:r>
            <a:r>
              <a:rPr lang="en-US" dirty="0" err="1"/>
              <a:t>chopin</a:t>
            </a:r>
            <a:r>
              <a:rPr lang="en-US" dirty="0"/>
              <a:t>” username/password</a:t>
            </a:r>
          </a:p>
          <a:p>
            <a:pPr lvl="1"/>
            <a:r>
              <a:rPr lang="en-US" dirty="0"/>
              <a:t>Change your password to something unique and strong immediately!</a:t>
            </a:r>
          </a:p>
          <a:p>
            <a:pPr lvl="1"/>
            <a:r>
              <a:rPr lang="en-US" dirty="0"/>
              <a:t>10 GB home directory</a:t>
            </a:r>
          </a:p>
          <a:p>
            <a:pPr lvl="1"/>
            <a:r>
              <a:rPr lang="en-US" dirty="0"/>
              <a:t>50 GB data directory</a:t>
            </a:r>
          </a:p>
          <a:p>
            <a:r>
              <a:rPr lang="en-US" dirty="0"/>
              <a:t>You need to be on the Columbia (or LDEO) network or VPN to connect</a:t>
            </a:r>
          </a:p>
        </p:txBody>
      </p:sp>
      <p:sp>
        <p:nvSpPr>
          <p:cNvPr id="4" name="Slide Number Placeholder 3">
            <a:extLst>
              <a:ext uri="{FF2B5EF4-FFF2-40B4-BE49-F238E27FC236}">
                <a16:creationId xmlns:a16="http://schemas.microsoft.com/office/drawing/2014/main" id="{6F5C532B-71FD-C14D-8652-231AFF2C4DDF}"/>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19</a:t>
            </a:fld>
            <a:endParaRPr lang="en-US">
              <a:solidFill>
                <a:prstClr val="black">
                  <a:tint val="75000"/>
                </a:prstClr>
              </a:solidFill>
              <a:latin typeface="Calibri"/>
            </a:endParaRPr>
          </a:p>
        </p:txBody>
      </p:sp>
    </p:spTree>
    <p:extLst>
      <p:ext uri="{BB962C8B-B14F-4D97-AF65-F5344CB8AC3E}">
        <p14:creationId xmlns:p14="http://schemas.microsoft.com/office/powerpoint/2010/main" val="1140463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427BB-A165-E949-A750-D3DABB4ABEB5}"/>
              </a:ext>
            </a:extLst>
          </p:cNvPr>
          <p:cNvSpPr>
            <a:spLocks noGrp="1"/>
          </p:cNvSpPr>
          <p:nvPr>
            <p:ph type="title"/>
          </p:nvPr>
        </p:nvSpPr>
        <p:spPr/>
        <p:txBody>
          <a:bodyPr/>
          <a:lstStyle/>
          <a:p>
            <a:r>
              <a:rPr lang="en-US" dirty="0"/>
              <a:t>Learning goals</a:t>
            </a:r>
          </a:p>
        </p:txBody>
      </p:sp>
      <p:sp>
        <p:nvSpPr>
          <p:cNvPr id="3" name="Content Placeholder 2">
            <a:extLst>
              <a:ext uri="{FF2B5EF4-FFF2-40B4-BE49-F238E27FC236}">
                <a16:creationId xmlns:a16="http://schemas.microsoft.com/office/drawing/2014/main" id="{5E4C499E-6BF9-8547-B27E-8F7087865A79}"/>
              </a:ext>
            </a:extLst>
          </p:cNvPr>
          <p:cNvSpPr>
            <a:spLocks noGrp="1"/>
          </p:cNvSpPr>
          <p:nvPr>
            <p:ph idx="1"/>
          </p:nvPr>
        </p:nvSpPr>
        <p:spPr/>
        <p:txBody>
          <a:bodyPr>
            <a:normAutofit fontScale="92500" lnSpcReduction="20000"/>
          </a:bodyPr>
          <a:lstStyle/>
          <a:p>
            <a:r>
              <a:rPr lang="en-US" dirty="0"/>
              <a:t>Use Linux/Unix commands to work with files and directories</a:t>
            </a:r>
          </a:p>
          <a:p>
            <a:r>
              <a:rPr lang="en-US" dirty="0"/>
              <a:t>Navigate the </a:t>
            </a:r>
            <a:r>
              <a:rPr lang="en-US" dirty="0" err="1"/>
              <a:t>JupyterLab</a:t>
            </a:r>
            <a:r>
              <a:rPr lang="en-US" dirty="0"/>
              <a:t> Environment effectively</a:t>
            </a:r>
          </a:p>
          <a:p>
            <a:r>
              <a:rPr lang="en-US" dirty="0"/>
              <a:t>Identify common geoscience data formats and the Python packages which can load them</a:t>
            </a:r>
          </a:p>
          <a:p>
            <a:r>
              <a:rPr lang="en-US" dirty="0"/>
              <a:t>Perform basic exploratory data analysis on Earth and Environmental data, distinguishing between</a:t>
            </a:r>
          </a:p>
          <a:p>
            <a:pPr lvl="1"/>
            <a:r>
              <a:rPr lang="en-US" dirty="0"/>
              <a:t>Tabular data: rows and columns</a:t>
            </a:r>
          </a:p>
          <a:p>
            <a:pPr lvl="1"/>
            <a:r>
              <a:rPr lang="en-US" dirty="0"/>
              <a:t>Gridded data: multidimensional numerical arrays</a:t>
            </a:r>
          </a:p>
          <a:p>
            <a:r>
              <a:rPr lang="en-US" dirty="0"/>
              <a:t>Use visualization to enhance interpretation of data, including maps and interactive visualizations</a:t>
            </a:r>
          </a:p>
          <a:p>
            <a:r>
              <a:rPr lang="en-US" dirty="0"/>
              <a:t>Construct complete, well-structured programs in Python</a:t>
            </a:r>
          </a:p>
          <a:p>
            <a:r>
              <a:rPr lang="en-US" dirty="0"/>
              <a:t>Practice collaborative, reproducible research through version control and GitHub</a:t>
            </a:r>
          </a:p>
          <a:p>
            <a:endParaRPr lang="en-US" dirty="0"/>
          </a:p>
        </p:txBody>
      </p:sp>
      <p:sp>
        <p:nvSpPr>
          <p:cNvPr id="4" name="Slide Number Placeholder 3">
            <a:extLst>
              <a:ext uri="{FF2B5EF4-FFF2-40B4-BE49-F238E27FC236}">
                <a16:creationId xmlns:a16="http://schemas.microsoft.com/office/drawing/2014/main" id="{E292DB74-ACEC-9B4B-9544-618274BCD8E7}"/>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20</a:t>
            </a:fld>
            <a:endParaRPr lang="en-US">
              <a:solidFill>
                <a:prstClr val="black">
                  <a:tint val="75000"/>
                </a:prstClr>
              </a:solidFill>
              <a:latin typeface="Calibri"/>
            </a:endParaRPr>
          </a:p>
        </p:txBody>
      </p:sp>
    </p:spTree>
    <p:extLst>
      <p:ext uri="{BB962C8B-B14F-4D97-AF65-F5344CB8AC3E}">
        <p14:creationId xmlns:p14="http://schemas.microsoft.com/office/powerpoint/2010/main" val="1177377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8DB9-A46B-A440-9CEF-13904F5BFAD4}"/>
              </a:ext>
            </a:extLst>
          </p:cNvPr>
          <p:cNvSpPr>
            <a:spLocks noGrp="1"/>
          </p:cNvSpPr>
          <p:nvPr>
            <p:ph type="title"/>
          </p:nvPr>
        </p:nvSpPr>
        <p:spPr/>
        <p:txBody>
          <a:bodyPr/>
          <a:lstStyle/>
          <a:p>
            <a:r>
              <a:rPr lang="en-US" dirty="0"/>
              <a:t>Grading</a:t>
            </a:r>
          </a:p>
        </p:txBody>
      </p:sp>
      <p:graphicFrame>
        <p:nvGraphicFramePr>
          <p:cNvPr id="6" name="Content Placeholder 5">
            <a:extLst>
              <a:ext uri="{FF2B5EF4-FFF2-40B4-BE49-F238E27FC236}">
                <a16:creationId xmlns:a16="http://schemas.microsoft.com/office/drawing/2014/main" id="{54AED0F6-DD63-9C41-A188-A5EE37B5F7F0}"/>
              </a:ext>
            </a:extLst>
          </p:cNvPr>
          <p:cNvGraphicFramePr>
            <a:graphicFrameLocks noGrp="1"/>
          </p:cNvGraphicFramePr>
          <p:nvPr>
            <p:ph idx="1"/>
            <p:extLst>
              <p:ext uri="{D42A27DB-BD31-4B8C-83A1-F6EECF244321}">
                <p14:modId xmlns:p14="http://schemas.microsoft.com/office/powerpoint/2010/main" val="2854077114"/>
              </p:ext>
            </p:extLst>
          </p:nvPr>
        </p:nvGraphicFramePr>
        <p:xfrm>
          <a:off x="837679" y="1354220"/>
          <a:ext cx="10032337" cy="2204974"/>
        </p:xfrm>
        <a:graphic>
          <a:graphicData uri="http://schemas.openxmlformats.org/drawingml/2006/table">
            <a:tbl>
              <a:tblPr bandRow="1"/>
              <a:tblGrid>
                <a:gridCol w="3201810">
                  <a:extLst>
                    <a:ext uri="{9D8B030D-6E8A-4147-A177-3AD203B41FA5}">
                      <a16:colId xmlns:a16="http://schemas.microsoft.com/office/drawing/2014/main" val="3891793232"/>
                    </a:ext>
                  </a:extLst>
                </a:gridCol>
                <a:gridCol w="2408979">
                  <a:extLst>
                    <a:ext uri="{9D8B030D-6E8A-4147-A177-3AD203B41FA5}">
                      <a16:colId xmlns:a16="http://schemas.microsoft.com/office/drawing/2014/main" val="188141350"/>
                    </a:ext>
                  </a:extLst>
                </a:gridCol>
                <a:gridCol w="4421548">
                  <a:extLst>
                    <a:ext uri="{9D8B030D-6E8A-4147-A177-3AD203B41FA5}">
                      <a16:colId xmlns:a16="http://schemas.microsoft.com/office/drawing/2014/main" val="209227799"/>
                    </a:ext>
                  </a:extLst>
                </a:gridCol>
              </a:tblGrid>
              <a:tr h="427540">
                <a:tc>
                  <a:txBody>
                    <a:bodyPr/>
                    <a:lstStyle/>
                    <a:p>
                      <a:pPr marL="0" marR="0" algn="ctr">
                        <a:lnSpc>
                          <a:spcPct val="115000"/>
                        </a:lnSpc>
                        <a:spcBef>
                          <a:spcPts val="0"/>
                        </a:spcBef>
                        <a:spcAft>
                          <a:spcPts val="0"/>
                        </a:spcAft>
                      </a:pPr>
                      <a:r>
                        <a:rPr lang="en-US" sz="2700" b="1">
                          <a:solidFill>
                            <a:srgbClr val="FFFFFF"/>
                          </a:solidFill>
                          <a:effectLst/>
                          <a:latin typeface="Arial" panose="020B0604020202020204" pitchFamily="34" charset="0"/>
                          <a:ea typeface="Arial" panose="020B0604020202020204" pitchFamily="34" charset="0"/>
                        </a:rPr>
                        <a:t>Activity</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A0"/>
                    </a:solidFill>
                  </a:tcPr>
                </a:tc>
                <a:tc>
                  <a:txBody>
                    <a:bodyPr/>
                    <a:lstStyle/>
                    <a:p>
                      <a:pPr marL="0" marR="0" algn="ctr">
                        <a:lnSpc>
                          <a:spcPct val="115000"/>
                        </a:lnSpc>
                        <a:spcBef>
                          <a:spcPts val="0"/>
                        </a:spcBef>
                        <a:spcAft>
                          <a:spcPts val="0"/>
                        </a:spcAft>
                      </a:pPr>
                      <a:r>
                        <a:rPr lang="en-US" sz="2700" b="1">
                          <a:solidFill>
                            <a:srgbClr val="FFFFFF"/>
                          </a:solidFill>
                          <a:effectLst/>
                          <a:latin typeface="Arial" panose="020B0604020202020204" pitchFamily="34" charset="0"/>
                          <a:ea typeface="Arial" panose="020B0604020202020204" pitchFamily="34" charset="0"/>
                        </a:rPr>
                        <a:t>Weight</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A0"/>
                    </a:solidFill>
                  </a:tcPr>
                </a:tc>
                <a:tc>
                  <a:txBody>
                    <a:bodyPr/>
                    <a:lstStyle/>
                    <a:p>
                      <a:pPr marL="0" marR="0" algn="ctr">
                        <a:lnSpc>
                          <a:spcPct val="115000"/>
                        </a:lnSpc>
                        <a:spcBef>
                          <a:spcPts val="0"/>
                        </a:spcBef>
                        <a:spcAft>
                          <a:spcPts val="0"/>
                        </a:spcAft>
                      </a:pPr>
                      <a:r>
                        <a:rPr lang="en-US" sz="2700" b="1" dirty="0">
                          <a:solidFill>
                            <a:srgbClr val="FFFFFF"/>
                          </a:solidFill>
                          <a:effectLst/>
                          <a:latin typeface="Arial" panose="020B0604020202020204" pitchFamily="34" charset="0"/>
                          <a:ea typeface="Arial" panose="020B0604020202020204" pitchFamily="34" charset="0"/>
                        </a:rPr>
                        <a:t>Due Date</a:t>
                      </a:r>
                      <a:endParaRPr lang="en-US" sz="2900" dirty="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33A0"/>
                    </a:solidFill>
                  </a:tcPr>
                </a:tc>
                <a:extLst>
                  <a:ext uri="{0D108BD9-81ED-4DB2-BD59-A6C34878D82A}">
                    <a16:rowId xmlns:a16="http://schemas.microsoft.com/office/drawing/2014/main" val="1924849079"/>
                  </a:ext>
                </a:extLst>
              </a:tr>
              <a:tr h="894869">
                <a:tc>
                  <a:txBody>
                    <a:bodyPr/>
                    <a:lstStyle/>
                    <a:p>
                      <a:pPr marL="0" marR="0">
                        <a:lnSpc>
                          <a:spcPct val="115000"/>
                        </a:lnSpc>
                        <a:spcBef>
                          <a:spcPts val="0"/>
                        </a:spcBef>
                        <a:spcAft>
                          <a:spcPts val="0"/>
                        </a:spcAft>
                      </a:pPr>
                      <a:r>
                        <a:rPr lang="en-US" sz="2700">
                          <a:effectLst/>
                          <a:latin typeface="Arial" panose="020B0604020202020204" pitchFamily="34" charset="0"/>
                          <a:ea typeface="Arial" panose="020B0604020202020204" pitchFamily="34" charset="0"/>
                        </a:rPr>
                        <a:t>Attendance and Participation</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700">
                          <a:solidFill>
                            <a:srgbClr val="000000"/>
                          </a:solidFill>
                          <a:effectLst/>
                          <a:latin typeface="Arial" panose="020B0604020202020204" pitchFamily="34" charset="0"/>
                          <a:ea typeface="Arial" panose="020B0604020202020204" pitchFamily="34" charset="0"/>
                        </a:rPr>
                        <a:t>10%</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700">
                          <a:solidFill>
                            <a:srgbClr val="000000"/>
                          </a:solidFill>
                          <a:effectLst/>
                          <a:latin typeface="Arial" panose="020B0604020202020204" pitchFamily="34" charset="0"/>
                          <a:ea typeface="Arial" panose="020B0604020202020204" pitchFamily="34" charset="0"/>
                        </a:rPr>
                        <a:t>Each week</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5801709"/>
                  </a:ext>
                </a:extLst>
              </a:tr>
              <a:tr h="427540">
                <a:tc>
                  <a:txBody>
                    <a:bodyPr/>
                    <a:lstStyle/>
                    <a:p>
                      <a:pPr marL="0" marR="0">
                        <a:lnSpc>
                          <a:spcPct val="115000"/>
                        </a:lnSpc>
                        <a:spcBef>
                          <a:spcPts val="0"/>
                        </a:spcBef>
                        <a:spcAft>
                          <a:spcPts val="0"/>
                        </a:spcAft>
                      </a:pPr>
                      <a:r>
                        <a:rPr lang="en-US" sz="2700">
                          <a:effectLst/>
                          <a:latin typeface="Arial" panose="020B0604020202020204" pitchFamily="34" charset="0"/>
                          <a:ea typeface="Arial" panose="020B0604020202020204" pitchFamily="34" charset="0"/>
                        </a:rPr>
                        <a:t>Assignments</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700">
                          <a:effectLst/>
                          <a:latin typeface="Arial" panose="020B0604020202020204" pitchFamily="34" charset="0"/>
                          <a:ea typeface="Arial" panose="020B0604020202020204" pitchFamily="34" charset="0"/>
                        </a:rPr>
                        <a:t>40%</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700">
                          <a:effectLst/>
                          <a:latin typeface="Arial" panose="020B0604020202020204" pitchFamily="34" charset="0"/>
                          <a:ea typeface="Arial" panose="020B0604020202020204" pitchFamily="34" charset="0"/>
                        </a:rPr>
                        <a:t>Approx. every week</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312578"/>
                  </a:ext>
                </a:extLst>
              </a:tr>
              <a:tr h="427540">
                <a:tc>
                  <a:txBody>
                    <a:bodyPr/>
                    <a:lstStyle/>
                    <a:p>
                      <a:pPr marL="0" marR="0">
                        <a:lnSpc>
                          <a:spcPct val="115000"/>
                        </a:lnSpc>
                        <a:spcBef>
                          <a:spcPts val="0"/>
                        </a:spcBef>
                        <a:spcAft>
                          <a:spcPts val="0"/>
                        </a:spcAft>
                      </a:pPr>
                      <a:r>
                        <a:rPr lang="en-US" sz="2700">
                          <a:effectLst/>
                          <a:latin typeface="Arial" panose="020B0604020202020204" pitchFamily="34" charset="0"/>
                          <a:ea typeface="Arial" panose="020B0604020202020204" pitchFamily="34" charset="0"/>
                        </a:rPr>
                        <a:t>Final Project</a:t>
                      </a:r>
                      <a:endParaRPr lang="en-US" sz="290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700" dirty="0">
                          <a:effectLst/>
                          <a:latin typeface="Arial" panose="020B0604020202020204" pitchFamily="34" charset="0"/>
                          <a:ea typeface="Arial" panose="020B0604020202020204" pitchFamily="34" charset="0"/>
                        </a:rPr>
                        <a:t>50%</a:t>
                      </a:r>
                      <a:endParaRPr lang="en-US" sz="2900" dirty="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2700" dirty="0">
                          <a:effectLst/>
                          <a:latin typeface="Arial" panose="020B0604020202020204" pitchFamily="34" charset="0"/>
                          <a:ea typeface="Arial" panose="020B0604020202020204" pitchFamily="34" charset="0"/>
                        </a:rPr>
                        <a:t>End of semester</a:t>
                      </a:r>
                      <a:endParaRPr lang="en-US" sz="2900" dirty="0">
                        <a:effectLst/>
                        <a:latin typeface="Arial" panose="020B0604020202020204" pitchFamily="34" charset="0"/>
                        <a:ea typeface="Arial" panose="020B0604020202020204" pitchFamily="34" charset="0"/>
                      </a:endParaRPr>
                    </a:p>
                  </a:txBody>
                  <a:tcPr marL="182868" marR="1828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799082"/>
                  </a:ext>
                </a:extLst>
              </a:tr>
            </a:tbl>
          </a:graphicData>
        </a:graphic>
      </p:graphicFrame>
      <p:sp>
        <p:nvSpPr>
          <p:cNvPr id="4" name="Slide Number Placeholder 3">
            <a:extLst>
              <a:ext uri="{FF2B5EF4-FFF2-40B4-BE49-F238E27FC236}">
                <a16:creationId xmlns:a16="http://schemas.microsoft.com/office/drawing/2014/main" id="{A502F884-3F6C-6C44-A6D8-34C7CCF25A74}"/>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21</a:t>
            </a:fld>
            <a:endParaRPr lang="en-US">
              <a:solidFill>
                <a:prstClr val="black">
                  <a:tint val="75000"/>
                </a:prstClr>
              </a:solidFill>
              <a:latin typeface="Calibri"/>
            </a:endParaRPr>
          </a:p>
        </p:txBody>
      </p:sp>
      <p:sp>
        <p:nvSpPr>
          <p:cNvPr id="7" name="Content Placeholder 2">
            <a:extLst>
              <a:ext uri="{FF2B5EF4-FFF2-40B4-BE49-F238E27FC236}">
                <a16:creationId xmlns:a16="http://schemas.microsoft.com/office/drawing/2014/main" id="{4213F83B-4AA3-3545-A713-849DC31CA246}"/>
              </a:ext>
            </a:extLst>
          </p:cNvPr>
          <p:cNvSpPr txBox="1">
            <a:spLocks/>
          </p:cNvSpPr>
          <p:nvPr/>
        </p:nvSpPr>
        <p:spPr>
          <a:xfrm>
            <a:off x="609600" y="3921194"/>
            <a:ext cx="10972800" cy="2435175"/>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Arial"/>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Assignment grading rubric</a:t>
            </a:r>
          </a:p>
          <a:p>
            <a:pPr lvl="1"/>
            <a:r>
              <a:rPr lang="en-US" dirty="0"/>
              <a:t>Total: 100</a:t>
            </a:r>
          </a:p>
          <a:p>
            <a:pPr lvl="1"/>
            <a:r>
              <a:rPr lang="en-US" dirty="0"/>
              <a:t>All answers complete: 50</a:t>
            </a:r>
          </a:p>
          <a:p>
            <a:pPr lvl="1"/>
            <a:r>
              <a:rPr lang="en-US" dirty="0"/>
              <a:t>All answers correct: 25</a:t>
            </a:r>
          </a:p>
          <a:p>
            <a:pPr lvl="1"/>
            <a:r>
              <a:rPr lang="en-US" dirty="0"/>
              <a:t>Answers demonstrate effective use of the concepts taught in class: 25</a:t>
            </a:r>
          </a:p>
        </p:txBody>
      </p:sp>
    </p:spTree>
    <p:extLst>
      <p:ext uri="{BB962C8B-B14F-4D97-AF65-F5344CB8AC3E}">
        <p14:creationId xmlns:p14="http://schemas.microsoft.com/office/powerpoint/2010/main" val="1084112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2243-1D91-36D3-C0C2-0255D0494F41}"/>
              </a:ext>
            </a:extLst>
          </p:cNvPr>
          <p:cNvSpPr>
            <a:spLocks noGrp="1"/>
          </p:cNvSpPr>
          <p:nvPr>
            <p:ph type="title"/>
          </p:nvPr>
        </p:nvSpPr>
        <p:spPr/>
        <p:txBody>
          <a:bodyPr/>
          <a:lstStyle/>
          <a:p>
            <a:r>
              <a:rPr lang="en-US" dirty="0"/>
              <a:t>A note on LLMs </a:t>
            </a:r>
          </a:p>
        </p:txBody>
      </p:sp>
      <p:sp>
        <p:nvSpPr>
          <p:cNvPr id="3" name="Content Placeholder 2">
            <a:extLst>
              <a:ext uri="{FF2B5EF4-FFF2-40B4-BE49-F238E27FC236}">
                <a16:creationId xmlns:a16="http://schemas.microsoft.com/office/drawing/2014/main" id="{8C3C38AC-47F6-50EA-31F4-0DE168DCDC67}"/>
              </a:ext>
            </a:extLst>
          </p:cNvPr>
          <p:cNvSpPr>
            <a:spLocks noGrp="1"/>
          </p:cNvSpPr>
          <p:nvPr>
            <p:ph idx="1"/>
          </p:nvPr>
        </p:nvSpPr>
        <p:spPr/>
        <p:txBody>
          <a:bodyPr/>
          <a:lstStyle/>
          <a:p>
            <a:r>
              <a:rPr lang="en-US" sz="1800" dirty="0">
                <a:solidFill>
                  <a:srgbClr val="000000"/>
                </a:solidFill>
                <a:highlight>
                  <a:srgbClr val="FFFFFF"/>
                </a:highlight>
                <a:latin typeface="Arial" panose="020B0604020202020204" pitchFamily="34" charset="0"/>
                <a:ea typeface="Arial" panose="020B0604020202020204" pitchFamily="34" charset="0"/>
              </a:rPr>
              <a:t>W</a:t>
            </a:r>
            <a:r>
              <a:rPr lang="en-US" sz="1800" dirty="0">
                <a:solidFill>
                  <a:srgbClr val="000000"/>
                </a:solidFill>
                <a:effectLst/>
                <a:highlight>
                  <a:srgbClr val="FFFFFF"/>
                </a:highlight>
                <a:latin typeface="Arial" panose="020B0604020202020204" pitchFamily="34" charset="0"/>
                <a:ea typeface="Arial" panose="020B0604020202020204" pitchFamily="34" charset="0"/>
              </a:rPr>
              <a:t>e disallow the use of LLMs (e.g. ChatGPT, Claude, Google Gemini) for assignments and final projects in this course.</a:t>
            </a:r>
            <a:r>
              <a:rPr lang="en-US" sz="1200" dirty="0">
                <a:effectLst/>
              </a:rPr>
              <a:t> </a:t>
            </a:r>
          </a:p>
          <a:p>
            <a:endParaRPr lang="en-US" sz="1200" dirty="0"/>
          </a:p>
          <a:p>
            <a:r>
              <a:rPr lang="en-US" sz="2400" dirty="0">
                <a:effectLst/>
              </a:rPr>
              <a:t>Why? </a:t>
            </a:r>
          </a:p>
          <a:p>
            <a:pPr lvl="1"/>
            <a:r>
              <a:rPr lang="en-US" sz="2000" dirty="0"/>
              <a:t>They are often wrong</a:t>
            </a:r>
          </a:p>
          <a:p>
            <a:pPr lvl="1"/>
            <a:r>
              <a:rPr lang="en-US" sz="2000" dirty="0">
                <a:effectLst/>
              </a:rPr>
              <a:t>They will often give code that runs but results in nonsensical answers</a:t>
            </a:r>
          </a:p>
          <a:p>
            <a:pPr lvl="1"/>
            <a:r>
              <a:rPr lang="en-US" sz="2000" dirty="0">
                <a:effectLst/>
              </a:rPr>
              <a:t>Your work in this class must be your</a:t>
            </a:r>
            <a:r>
              <a:rPr lang="en-US" sz="2000" dirty="0"/>
              <a:t> own, not another person’s or an AI tool’s</a:t>
            </a:r>
          </a:p>
          <a:p>
            <a:pPr lvl="1"/>
            <a:r>
              <a:rPr lang="en-US" sz="2000" dirty="0">
                <a:effectLst/>
              </a:rPr>
              <a:t>We are here to learn and think critically, not become AI “whisperers” or prompt engineers</a:t>
            </a:r>
          </a:p>
          <a:p>
            <a:pPr lvl="1"/>
            <a:r>
              <a:rPr lang="en-US" sz="2000" dirty="0">
                <a:effectLst/>
              </a:rPr>
              <a:t>It is disrespectful to the professor and the TAs, as it is a waste of our time to read/evaluate work that was generated by AI</a:t>
            </a:r>
          </a:p>
          <a:p>
            <a:pPr marL="457200" lvl="1" indent="0">
              <a:buNone/>
            </a:pPr>
            <a:endParaRPr lang="en-US" dirty="0"/>
          </a:p>
        </p:txBody>
      </p:sp>
      <p:sp>
        <p:nvSpPr>
          <p:cNvPr id="4" name="Slide Number Placeholder 3">
            <a:extLst>
              <a:ext uri="{FF2B5EF4-FFF2-40B4-BE49-F238E27FC236}">
                <a16:creationId xmlns:a16="http://schemas.microsoft.com/office/drawing/2014/main" id="{4E060471-18A5-C30B-BD6F-07711EB3B556}"/>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22</a:t>
            </a:fld>
            <a:endParaRPr lang="en-US">
              <a:solidFill>
                <a:prstClr val="black">
                  <a:tint val="75000"/>
                </a:prstClr>
              </a:solidFill>
              <a:latin typeface="Calibri"/>
            </a:endParaRPr>
          </a:p>
        </p:txBody>
      </p:sp>
    </p:spTree>
    <p:extLst>
      <p:ext uri="{BB962C8B-B14F-4D97-AF65-F5344CB8AC3E}">
        <p14:creationId xmlns:p14="http://schemas.microsoft.com/office/powerpoint/2010/main" val="458618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57F7A-4440-1843-B68F-4BFDEE957D25}"/>
              </a:ext>
            </a:extLst>
          </p:cNvPr>
          <p:cNvSpPr>
            <a:spLocks noGrp="1"/>
          </p:cNvSpPr>
          <p:nvPr>
            <p:ph type="title"/>
          </p:nvPr>
        </p:nvSpPr>
        <p:spPr/>
        <p:txBody>
          <a:bodyPr/>
          <a:lstStyle/>
          <a:p>
            <a:r>
              <a:rPr lang="en-US" dirty="0"/>
              <a:t>Assignments</a:t>
            </a:r>
          </a:p>
        </p:txBody>
      </p:sp>
      <p:sp>
        <p:nvSpPr>
          <p:cNvPr id="3" name="Content Placeholder 2">
            <a:extLst>
              <a:ext uri="{FF2B5EF4-FFF2-40B4-BE49-F238E27FC236}">
                <a16:creationId xmlns:a16="http://schemas.microsoft.com/office/drawing/2014/main" id="{54627BB9-CCFC-CA4B-8350-C54601359800}"/>
              </a:ext>
            </a:extLst>
          </p:cNvPr>
          <p:cNvSpPr>
            <a:spLocks noGrp="1"/>
          </p:cNvSpPr>
          <p:nvPr>
            <p:ph idx="1"/>
          </p:nvPr>
        </p:nvSpPr>
        <p:spPr>
          <a:xfrm>
            <a:off x="609600" y="1003306"/>
            <a:ext cx="10972800" cy="5480621"/>
          </a:xfrm>
        </p:spPr>
        <p:txBody>
          <a:bodyPr>
            <a:normAutofit lnSpcReduction="10000"/>
          </a:bodyPr>
          <a:lstStyle/>
          <a:p>
            <a:r>
              <a:rPr lang="en-US" sz="1800" dirty="0">
                <a:solidFill>
                  <a:srgbClr val="000000"/>
                </a:solidFill>
                <a:effectLst/>
                <a:latin typeface="Arial" panose="020B0604020202020204" pitchFamily="34" charset="0"/>
                <a:ea typeface="Arial" panose="020B0604020202020204" pitchFamily="34" charset="0"/>
              </a:rPr>
              <a:t>There will be approximately 10-11 assignments throughout the semester. </a:t>
            </a:r>
          </a:p>
          <a:p>
            <a:r>
              <a:rPr lang="en-US" sz="1800" dirty="0">
                <a:solidFill>
                  <a:srgbClr val="000000"/>
                </a:solidFill>
                <a:effectLst/>
                <a:latin typeface="Arial" panose="020B0604020202020204" pitchFamily="34" charset="0"/>
                <a:ea typeface="Arial" panose="020B0604020202020204" pitchFamily="34" charset="0"/>
              </a:rPr>
              <a:t>Assignments are due by </a:t>
            </a:r>
            <a:r>
              <a:rPr lang="en-US" sz="1800" dirty="0">
                <a:effectLst/>
                <a:latin typeface="Arial" panose="020B0604020202020204" pitchFamily="34" charset="0"/>
                <a:ea typeface="Arial" panose="020B0604020202020204" pitchFamily="34" charset="0"/>
              </a:rPr>
              <a:t>11:59pm</a:t>
            </a:r>
            <a:r>
              <a:rPr lang="en-US" sz="1800" dirty="0">
                <a:solidFill>
                  <a:srgbClr val="000000"/>
                </a:solidFill>
                <a:effectLst/>
                <a:latin typeface="Arial" panose="020B0604020202020204" pitchFamily="34" charset="0"/>
                <a:ea typeface="Arial" panose="020B0604020202020204" pitchFamily="34" charset="0"/>
              </a:rPr>
              <a:t> on Tuesdays. </a:t>
            </a:r>
          </a:p>
          <a:p>
            <a:r>
              <a:rPr lang="en-US" sz="1800" dirty="0">
                <a:solidFill>
                  <a:srgbClr val="000000"/>
                </a:solidFill>
                <a:effectLst/>
                <a:latin typeface="Arial" panose="020B0604020202020204" pitchFamily="34" charset="0"/>
                <a:ea typeface="Arial" panose="020B0604020202020204" pitchFamily="34" charset="0"/>
              </a:rPr>
              <a:t>Assignments will be posted on </a:t>
            </a:r>
            <a:r>
              <a:rPr lang="en-US" sz="1800" dirty="0" err="1">
                <a:solidFill>
                  <a:srgbClr val="000000"/>
                </a:solidFill>
                <a:effectLst/>
                <a:latin typeface="Arial" panose="020B0604020202020204" pitchFamily="34" charset="0"/>
                <a:ea typeface="Arial" panose="020B0604020202020204" pitchFamily="34" charset="0"/>
              </a:rPr>
              <a:t>Courseworks</a:t>
            </a:r>
            <a:r>
              <a:rPr lang="en-US" sz="1800" dirty="0">
                <a:solidFill>
                  <a:srgbClr val="000000"/>
                </a:solidFill>
                <a:effectLst/>
                <a:latin typeface="Arial" panose="020B0604020202020204" pitchFamily="34" charset="0"/>
                <a:ea typeface="Arial" panose="020B0604020202020204" pitchFamily="34" charset="0"/>
              </a:rPr>
              <a:t>. </a:t>
            </a:r>
          </a:p>
          <a:p>
            <a:r>
              <a:rPr lang="en-US" sz="1800" dirty="0">
                <a:solidFill>
                  <a:srgbClr val="000000"/>
                </a:solidFill>
                <a:effectLst/>
                <a:latin typeface="Arial" panose="020B0604020202020204" pitchFamily="34" charset="0"/>
                <a:ea typeface="Arial" panose="020B0604020202020204" pitchFamily="34" charset="0"/>
              </a:rPr>
              <a:t>To turn in assignments, you will simply push your code/notebooks to an assignments repository on your </a:t>
            </a:r>
            <a:r>
              <a:rPr lang="en-US" sz="1800" dirty="0" err="1">
                <a:solidFill>
                  <a:srgbClr val="000000"/>
                </a:solidFill>
                <a:effectLst/>
                <a:latin typeface="Arial" panose="020B0604020202020204" pitchFamily="34" charset="0"/>
                <a:ea typeface="Arial" panose="020B0604020202020204" pitchFamily="34" charset="0"/>
              </a:rPr>
              <a:t>github</a:t>
            </a:r>
            <a:r>
              <a:rPr lang="en-US" sz="1800" dirty="0">
                <a:solidFill>
                  <a:srgbClr val="000000"/>
                </a:solidFill>
                <a:effectLst/>
                <a:latin typeface="Arial" panose="020B0604020202020204" pitchFamily="34" charset="0"/>
                <a:ea typeface="Arial" panose="020B0604020202020204" pitchFamily="34" charset="0"/>
              </a:rPr>
              <a:t>, and you will make the professor (</a:t>
            </a:r>
            <a:r>
              <a:rPr lang="en-US" sz="1800" dirty="0" err="1">
                <a:solidFill>
                  <a:srgbClr val="000000"/>
                </a:solidFill>
                <a:effectLst/>
                <a:latin typeface="Arial" panose="020B0604020202020204" pitchFamily="34" charset="0"/>
                <a:ea typeface="Arial" panose="020B0604020202020204" pitchFamily="34" charset="0"/>
              </a:rPr>
              <a:t>Github</a:t>
            </a:r>
            <a:r>
              <a:rPr lang="en-US" sz="1800" dirty="0">
                <a:solidFill>
                  <a:srgbClr val="000000"/>
                </a:solidFill>
                <a:effectLst/>
                <a:latin typeface="Arial" panose="020B0604020202020204" pitchFamily="34" charset="0"/>
                <a:ea typeface="Arial" panose="020B0604020202020204" pitchFamily="34" charset="0"/>
              </a:rPr>
              <a:t>: dmw2166) and Tas collaborators so we can check your work. </a:t>
            </a:r>
          </a:p>
          <a:p>
            <a:r>
              <a:rPr lang="en-US" sz="1800" dirty="0">
                <a:solidFill>
                  <a:srgbClr val="000000"/>
                </a:solidFill>
                <a:effectLst/>
                <a:latin typeface="Arial" panose="020B0604020202020204" pitchFamily="34" charset="0"/>
                <a:ea typeface="Arial" panose="020B0604020202020204" pitchFamily="34" charset="0"/>
              </a:rPr>
              <a:t>You can keep pushing changes to your assignments up through the deadline. We will grade the last push before the deadline. </a:t>
            </a:r>
            <a:endParaRPr lang="en-US" sz="1800" dirty="0">
              <a:effectLst/>
              <a:latin typeface="Arial" panose="020B0604020202020204" pitchFamily="34" charset="0"/>
              <a:ea typeface="Arial" panose="020B0604020202020204" pitchFamily="34" charset="0"/>
            </a:endParaRPr>
          </a:p>
          <a:p>
            <a:pPr marL="0" indent="0">
              <a:buNone/>
            </a:pPr>
            <a:endParaRPr lang="en-US" dirty="0"/>
          </a:p>
          <a:p>
            <a:r>
              <a:rPr lang="en-US" dirty="0"/>
              <a:t>Late assignment policy: </a:t>
            </a:r>
            <a:r>
              <a:rPr lang="en-US" sz="1800" dirty="0">
                <a:solidFill>
                  <a:srgbClr val="252525"/>
                </a:solidFill>
                <a:effectLst/>
                <a:latin typeface="Arial" panose="020B0604020202020204" pitchFamily="34" charset="0"/>
                <a:ea typeface="Arial" panose="020B0604020202020204" pitchFamily="34" charset="0"/>
              </a:rPr>
              <a:t>Each student will have up to 5 total days of “no questions asked” extensions that they may use on any assignment. No need to ask for permission, but when you have turned in the late assignment, you must email the instructor with the words “Late Assignment Submission” in the subject line to inform them of your submission</a:t>
            </a:r>
            <a:r>
              <a:rPr lang="en-US" dirty="0">
                <a:effectLst/>
              </a:rPr>
              <a:t>  </a:t>
            </a:r>
          </a:p>
          <a:p>
            <a:pPr lvl="1"/>
            <a:r>
              <a:rPr lang="en-US" dirty="0"/>
              <a:t>Otherwise, 10% deduction per 24 hours (not including weekends) </a:t>
            </a:r>
          </a:p>
          <a:p>
            <a:pPr lvl="1"/>
            <a:r>
              <a:rPr lang="en-US" dirty="0"/>
              <a:t>Medical/family emergencies will of course be accommodated beyond the 5-day allotment</a:t>
            </a:r>
          </a:p>
        </p:txBody>
      </p:sp>
      <p:sp>
        <p:nvSpPr>
          <p:cNvPr id="4" name="Slide Number Placeholder 3">
            <a:extLst>
              <a:ext uri="{FF2B5EF4-FFF2-40B4-BE49-F238E27FC236}">
                <a16:creationId xmlns:a16="http://schemas.microsoft.com/office/drawing/2014/main" id="{4320A8CC-83B8-CB48-88C7-C6ADFE6FEA1C}"/>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23</a:t>
            </a:fld>
            <a:endParaRPr lang="en-US">
              <a:solidFill>
                <a:prstClr val="black">
                  <a:tint val="75000"/>
                </a:prstClr>
              </a:solidFill>
              <a:latin typeface="Calibri"/>
            </a:endParaRPr>
          </a:p>
        </p:txBody>
      </p:sp>
    </p:spTree>
    <p:extLst>
      <p:ext uri="{BB962C8B-B14F-4D97-AF65-F5344CB8AC3E}">
        <p14:creationId xmlns:p14="http://schemas.microsoft.com/office/powerpoint/2010/main" val="2624346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EE4E3-CAF4-1B49-BA8A-2661FD5091A4}"/>
              </a:ext>
            </a:extLst>
          </p:cNvPr>
          <p:cNvSpPr>
            <a:spLocks noGrp="1"/>
          </p:cNvSpPr>
          <p:nvPr>
            <p:ph type="title"/>
          </p:nvPr>
        </p:nvSpPr>
        <p:spPr/>
        <p:txBody>
          <a:bodyPr/>
          <a:lstStyle/>
          <a:p>
            <a:r>
              <a:rPr lang="en-US" dirty="0"/>
              <a:t>Final project</a:t>
            </a:r>
          </a:p>
        </p:txBody>
      </p:sp>
      <p:sp>
        <p:nvSpPr>
          <p:cNvPr id="3" name="Content Placeholder 2">
            <a:extLst>
              <a:ext uri="{FF2B5EF4-FFF2-40B4-BE49-F238E27FC236}">
                <a16:creationId xmlns:a16="http://schemas.microsoft.com/office/drawing/2014/main" id="{549F8DDA-6C8A-F846-831B-2DA27D0BA427}"/>
              </a:ext>
            </a:extLst>
          </p:cNvPr>
          <p:cNvSpPr>
            <a:spLocks noGrp="1"/>
          </p:cNvSpPr>
          <p:nvPr>
            <p:ph idx="1"/>
          </p:nvPr>
        </p:nvSpPr>
        <p:spPr/>
        <p:txBody>
          <a:bodyPr/>
          <a:lstStyle/>
          <a:p>
            <a:r>
              <a:rPr lang="en-US" dirty="0"/>
              <a:t>A project that uses several concepts covered in this course to carry out an extensive data analysis / visualization task</a:t>
            </a:r>
          </a:p>
          <a:p>
            <a:endParaRPr lang="en-US" dirty="0"/>
          </a:p>
          <a:p>
            <a:r>
              <a:rPr lang="en-US" dirty="0"/>
              <a:t>Encouraged to use open data</a:t>
            </a:r>
          </a:p>
          <a:p>
            <a:endParaRPr lang="en-US" dirty="0"/>
          </a:p>
          <a:p>
            <a:r>
              <a:rPr lang="en-US" dirty="0"/>
              <a:t>You will present briefly and demo your final project at the last week of classes</a:t>
            </a:r>
          </a:p>
          <a:p>
            <a:pPr lvl="1"/>
            <a:r>
              <a:rPr lang="en-US" sz="1800" dirty="0">
                <a:solidFill>
                  <a:srgbClr val="000000"/>
                </a:solidFill>
                <a:latin typeface="Arial" panose="020B0604020202020204" pitchFamily="34" charset="0"/>
                <a:ea typeface="Arial" panose="020B0604020202020204" pitchFamily="34" charset="0"/>
              </a:rPr>
              <a:t>P</a:t>
            </a:r>
            <a:r>
              <a:rPr lang="en-US" sz="1800" dirty="0">
                <a:solidFill>
                  <a:srgbClr val="000000"/>
                </a:solidFill>
                <a:effectLst/>
                <a:latin typeface="Arial" panose="020B0604020202020204" pitchFamily="34" charset="0"/>
                <a:ea typeface="Arial" panose="020B0604020202020204" pitchFamily="34" charset="0"/>
              </a:rPr>
              <a:t>ick a dataset, and use this dataset to investigate a scientific question or hypothesis. You will use the coding skills to create figures (in a </a:t>
            </a:r>
            <a:r>
              <a:rPr lang="en-US" sz="1800" dirty="0" err="1">
                <a:solidFill>
                  <a:srgbClr val="000000"/>
                </a:solidFill>
                <a:effectLst/>
                <a:latin typeface="Arial" panose="020B0604020202020204" pitchFamily="34" charset="0"/>
                <a:ea typeface="Arial" panose="020B0604020202020204" pitchFamily="34" charset="0"/>
              </a:rPr>
              <a:t>Jupyter</a:t>
            </a:r>
            <a:r>
              <a:rPr lang="en-US" sz="1800" dirty="0">
                <a:solidFill>
                  <a:srgbClr val="000000"/>
                </a:solidFill>
                <a:effectLst/>
                <a:latin typeface="Arial" panose="020B0604020202020204" pitchFamily="34" charset="0"/>
                <a:ea typeface="Arial" panose="020B0604020202020204" pitchFamily="34" charset="0"/>
              </a:rPr>
              <a:t> notebook) that provides insight regarding the scientific question or hypothesis. There will also be a 5-minute presentation on the project. Students are welcome to use datasets related to their research</a:t>
            </a:r>
            <a:r>
              <a:rPr lang="en-US" dirty="0">
                <a:effectLst/>
              </a:rPr>
              <a:t> </a:t>
            </a:r>
            <a:r>
              <a:rPr lang="en-US" sz="1800" dirty="0">
                <a:effectLst/>
              </a:rPr>
              <a:t>projects, internships, private industry jobs, etc</a:t>
            </a:r>
            <a:r>
              <a:rPr lang="en-US" sz="1800" dirty="0"/>
              <a:t>. (as long as it is climate-related, broadly defined)</a:t>
            </a:r>
          </a:p>
        </p:txBody>
      </p:sp>
      <p:sp>
        <p:nvSpPr>
          <p:cNvPr id="4" name="Slide Number Placeholder 3">
            <a:extLst>
              <a:ext uri="{FF2B5EF4-FFF2-40B4-BE49-F238E27FC236}">
                <a16:creationId xmlns:a16="http://schemas.microsoft.com/office/drawing/2014/main" id="{EF237215-5A38-3443-98D5-235A31A3A925}"/>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24</a:t>
            </a:fld>
            <a:endParaRPr lang="en-US">
              <a:solidFill>
                <a:prstClr val="black">
                  <a:tint val="75000"/>
                </a:prstClr>
              </a:solidFill>
              <a:latin typeface="Calibri"/>
            </a:endParaRPr>
          </a:p>
        </p:txBody>
      </p:sp>
    </p:spTree>
    <p:extLst>
      <p:ext uri="{BB962C8B-B14F-4D97-AF65-F5344CB8AC3E}">
        <p14:creationId xmlns:p14="http://schemas.microsoft.com/office/powerpoint/2010/main" val="547464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54E4-4119-6B46-A785-63B57029E8CF}"/>
              </a:ext>
            </a:extLst>
          </p:cNvPr>
          <p:cNvSpPr>
            <a:spLocks noGrp="1"/>
          </p:cNvSpPr>
          <p:nvPr>
            <p:ph type="title"/>
          </p:nvPr>
        </p:nvSpPr>
        <p:spPr/>
        <p:txBody>
          <a:bodyPr/>
          <a:lstStyle/>
          <a:p>
            <a:r>
              <a:rPr lang="en-US" dirty="0"/>
              <a:t>Bring your laptop to class</a:t>
            </a:r>
          </a:p>
        </p:txBody>
      </p:sp>
      <p:sp>
        <p:nvSpPr>
          <p:cNvPr id="3" name="Slide Number Placeholder 2">
            <a:extLst>
              <a:ext uri="{FF2B5EF4-FFF2-40B4-BE49-F238E27FC236}">
                <a16:creationId xmlns:a16="http://schemas.microsoft.com/office/drawing/2014/main" id="{EBA25841-5B22-4A42-B50B-C9073111533E}"/>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25</a:t>
            </a:fld>
            <a:endParaRPr lang="en-US">
              <a:solidFill>
                <a:prstClr val="black">
                  <a:tint val="75000"/>
                </a:prstClr>
              </a:solidFill>
              <a:latin typeface="Calibri"/>
            </a:endParaRPr>
          </a:p>
        </p:txBody>
      </p:sp>
      <p:sp>
        <p:nvSpPr>
          <p:cNvPr id="5" name="TextBox 4">
            <a:extLst>
              <a:ext uri="{FF2B5EF4-FFF2-40B4-BE49-F238E27FC236}">
                <a16:creationId xmlns:a16="http://schemas.microsoft.com/office/drawing/2014/main" id="{0481CB2B-DFA7-5B49-BE6C-690C240FCFD6}"/>
              </a:ext>
            </a:extLst>
          </p:cNvPr>
          <p:cNvSpPr txBox="1"/>
          <p:nvPr/>
        </p:nvSpPr>
        <p:spPr>
          <a:xfrm>
            <a:off x="1812174" y="2694492"/>
            <a:ext cx="8495607" cy="2308324"/>
          </a:xfrm>
          <a:prstGeom prst="rect">
            <a:avLst/>
          </a:prstGeom>
          <a:noFill/>
        </p:spPr>
        <p:txBody>
          <a:bodyPr wrap="square">
            <a:spAutoFit/>
          </a:bodyPr>
          <a:lstStyle/>
          <a:p>
            <a:r>
              <a:rPr lang="en-US" dirty="0">
                <a:effectLst/>
                <a:latin typeface="Helvetica Neue" panose="02000503000000020004" pitchFamily="2" charset="0"/>
              </a:rPr>
              <a:t>The best way to learn how to code is to start coding, so bring your laptop to class so you can be practicing the various coding commands while we present them. </a:t>
            </a:r>
          </a:p>
          <a:p>
            <a:endParaRPr lang="en-US" dirty="0">
              <a:latin typeface="Helvetica Neue" panose="02000503000000020004" pitchFamily="2" charset="0"/>
            </a:endParaRPr>
          </a:p>
          <a:p>
            <a:endParaRPr lang="en-US" dirty="0">
              <a:effectLst/>
              <a:latin typeface="Helvetica Neue" panose="02000503000000020004" pitchFamily="2" charset="0"/>
            </a:endParaRPr>
          </a:p>
          <a:p>
            <a:endParaRPr lang="en-US" dirty="0">
              <a:latin typeface="Helvetica Neue" panose="02000503000000020004" pitchFamily="2" charset="0"/>
            </a:endParaRPr>
          </a:p>
          <a:p>
            <a:r>
              <a:rPr lang="en-US" dirty="0">
                <a:effectLst/>
                <a:latin typeface="Helvetica Neue" panose="02000503000000020004" pitchFamily="2" charset="0"/>
              </a:rPr>
              <a:t>You will also need your laptop to work on the assignments during the in-class activity times. </a:t>
            </a:r>
          </a:p>
        </p:txBody>
      </p:sp>
    </p:spTree>
    <p:extLst>
      <p:ext uri="{BB962C8B-B14F-4D97-AF65-F5344CB8AC3E}">
        <p14:creationId xmlns:p14="http://schemas.microsoft.com/office/powerpoint/2010/main" val="3787306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9A5A4-5298-FE43-9E01-A24B6A6FEAFA}"/>
              </a:ext>
            </a:extLst>
          </p:cNvPr>
          <p:cNvSpPr>
            <a:spLocks noGrp="1"/>
          </p:cNvSpPr>
          <p:nvPr>
            <p:ph type="title"/>
          </p:nvPr>
        </p:nvSpPr>
        <p:spPr/>
        <p:txBody>
          <a:bodyPr/>
          <a:lstStyle/>
          <a:p>
            <a:r>
              <a:rPr lang="en-US" dirty="0"/>
              <a:t>Assignment 0</a:t>
            </a:r>
          </a:p>
        </p:txBody>
      </p:sp>
      <p:sp>
        <p:nvSpPr>
          <p:cNvPr id="3" name="Content Placeholder 2">
            <a:extLst>
              <a:ext uri="{FF2B5EF4-FFF2-40B4-BE49-F238E27FC236}">
                <a16:creationId xmlns:a16="http://schemas.microsoft.com/office/drawing/2014/main" id="{5D488795-7E3C-9045-99E1-C9CD3D950464}"/>
              </a:ext>
            </a:extLst>
          </p:cNvPr>
          <p:cNvSpPr>
            <a:spLocks noGrp="1"/>
          </p:cNvSpPr>
          <p:nvPr>
            <p:ph idx="1"/>
          </p:nvPr>
        </p:nvSpPr>
        <p:spPr/>
        <p:txBody>
          <a:bodyPr/>
          <a:lstStyle/>
          <a:p>
            <a:r>
              <a:rPr lang="en-US" dirty="0"/>
              <a:t>Gain access to the class </a:t>
            </a:r>
            <a:r>
              <a:rPr lang="en-US" dirty="0" err="1"/>
              <a:t>jupyterhub</a:t>
            </a:r>
            <a:endParaRPr lang="en-US" dirty="0"/>
          </a:p>
          <a:p>
            <a:pPr marL="0" indent="0">
              <a:buNone/>
            </a:pPr>
            <a:endParaRPr lang="en-US" dirty="0"/>
          </a:p>
          <a:p>
            <a:r>
              <a:rPr lang="en-US" dirty="0"/>
              <a:t>Create a </a:t>
            </a:r>
            <a:r>
              <a:rPr lang="en-US" dirty="0" err="1"/>
              <a:t>github</a:t>
            </a:r>
            <a:r>
              <a:rPr lang="en-US" dirty="0"/>
              <a:t> account, email us your </a:t>
            </a:r>
            <a:r>
              <a:rPr lang="en-US" dirty="0" err="1"/>
              <a:t>github</a:t>
            </a:r>
            <a:r>
              <a:rPr lang="en-US" dirty="0"/>
              <a:t> username, create an “assignments” repo, and add the instructor (dmw2166) and TAs as collaborator</a:t>
            </a:r>
          </a:p>
          <a:p>
            <a:pPr lvl="1"/>
            <a:r>
              <a:rPr lang="en-US" dirty="0">
                <a:hlinkClick r:id="rId2"/>
              </a:rPr>
              <a:t>https://education.github.com/pack</a:t>
            </a:r>
            <a:endParaRPr lang="en-US" dirty="0"/>
          </a:p>
          <a:p>
            <a:pPr lvl="1"/>
            <a:r>
              <a:rPr lang="en-US" dirty="0"/>
              <a:t>https://</a:t>
            </a:r>
            <a:r>
              <a:rPr lang="en-US" dirty="0" err="1"/>
              <a:t>docs.github.com</a:t>
            </a:r>
            <a:r>
              <a:rPr lang="en-US" dirty="0"/>
              <a:t>/</a:t>
            </a:r>
            <a:r>
              <a:rPr lang="en-US" dirty="0" err="1"/>
              <a:t>en</a:t>
            </a:r>
            <a:r>
              <a:rPr lang="en-US" dirty="0"/>
              <a:t>/account-and-profile/setting-up-and-managing-your-personal-account-on-</a:t>
            </a:r>
            <a:r>
              <a:rPr lang="en-US" dirty="0" err="1"/>
              <a:t>github</a:t>
            </a:r>
            <a:r>
              <a:rPr lang="en-US" dirty="0"/>
              <a:t>/managing-access-to-your-personal-repositories/inviting-collaborators-to-a-personal-repository</a:t>
            </a:r>
          </a:p>
        </p:txBody>
      </p:sp>
      <p:sp>
        <p:nvSpPr>
          <p:cNvPr id="4" name="Slide Number Placeholder 3">
            <a:extLst>
              <a:ext uri="{FF2B5EF4-FFF2-40B4-BE49-F238E27FC236}">
                <a16:creationId xmlns:a16="http://schemas.microsoft.com/office/drawing/2014/main" id="{095D7EBA-1B05-3944-94CD-83500A14029D}"/>
              </a:ext>
            </a:extLst>
          </p:cNvPr>
          <p:cNvSpPr>
            <a:spLocks noGrp="1"/>
          </p:cNvSpPr>
          <p:nvPr>
            <p:ph type="sldNum" sz="quarter" idx="12"/>
          </p:nvPr>
        </p:nvSpPr>
        <p:spPr/>
        <p:txBody>
          <a:bodyPr/>
          <a:lstStyle/>
          <a:p>
            <a:fld id="{C14F63FA-BE45-AC47-BCEE-A4BD7BF84FC1}" type="slidenum">
              <a:rPr lang="en-US" smtClean="0">
                <a:solidFill>
                  <a:prstClr val="black">
                    <a:tint val="75000"/>
                  </a:prstClr>
                </a:solidFill>
                <a:latin typeface="Calibri"/>
              </a:rPr>
              <a:pPr/>
              <a:t>26</a:t>
            </a:fld>
            <a:endParaRPr lang="en-US">
              <a:solidFill>
                <a:prstClr val="black">
                  <a:tint val="75000"/>
                </a:prstClr>
              </a:solidFill>
              <a:latin typeface="Calibri"/>
            </a:endParaRPr>
          </a:p>
        </p:txBody>
      </p:sp>
      <p:pic>
        <p:nvPicPr>
          <p:cNvPr id="5" name="Picture 4">
            <a:extLst>
              <a:ext uri="{FF2B5EF4-FFF2-40B4-BE49-F238E27FC236}">
                <a16:creationId xmlns:a16="http://schemas.microsoft.com/office/drawing/2014/main" id="{FB9F6715-3892-5643-B24F-3A8E492D4625}"/>
              </a:ext>
            </a:extLst>
          </p:cNvPr>
          <p:cNvPicPr>
            <a:picLocks noChangeAspect="1"/>
          </p:cNvPicPr>
          <p:nvPr/>
        </p:nvPicPr>
        <p:blipFill>
          <a:blip r:embed="rId3"/>
          <a:stretch>
            <a:fillRect/>
          </a:stretch>
        </p:blipFill>
        <p:spPr>
          <a:xfrm>
            <a:off x="4532765" y="5138874"/>
            <a:ext cx="1762017" cy="1431639"/>
          </a:xfrm>
          <a:prstGeom prst="rect">
            <a:avLst/>
          </a:prstGeom>
        </p:spPr>
      </p:pic>
    </p:spTree>
    <p:extLst>
      <p:ext uri="{BB962C8B-B14F-4D97-AF65-F5344CB8AC3E}">
        <p14:creationId xmlns:p14="http://schemas.microsoft.com/office/powerpoint/2010/main" val="338001076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76477</TotalTime>
  <Words>1619</Words>
  <Application>Microsoft Macintosh PowerPoint</Application>
  <PresentationFormat>Widescreen</PresentationFormat>
  <Paragraphs>203</Paragraphs>
  <Slides>26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-apple-system</vt:lpstr>
      <vt:lpstr>Arial</vt:lpstr>
      <vt:lpstr>Calibri</vt:lpstr>
      <vt:lpstr>Helvetica Neue</vt:lpstr>
      <vt:lpstr>inherit</vt:lpstr>
      <vt:lpstr>1_Office Theme</vt:lpstr>
      <vt:lpstr>CLMT5053 Computing and Research Methods for Climate Data Science</vt:lpstr>
      <vt:lpstr>My research</vt:lpstr>
      <vt:lpstr>Visualization of 1 year simulation of chemistry-climate model</vt:lpstr>
      <vt:lpstr>Challenges in research computing</vt:lpstr>
      <vt:lpstr>The tools</vt:lpstr>
      <vt:lpstr>The tools</vt:lpstr>
      <vt:lpstr>Popularity of various toools</vt:lpstr>
      <vt:lpstr>PowerPoint Presentation</vt:lpstr>
      <vt:lpstr>What is “open source”?</vt:lpstr>
      <vt:lpstr>Github provides a platform for version control and sharing projects</vt:lpstr>
      <vt:lpstr>Github readme</vt:lpstr>
      <vt:lpstr>Open-science best practices</vt:lpstr>
      <vt:lpstr>Solution: high performance computing (HPC)</vt:lpstr>
      <vt:lpstr>High performance computing</vt:lpstr>
      <vt:lpstr>HPC in this class</vt:lpstr>
      <vt:lpstr>What is “big data”? </vt:lpstr>
      <vt:lpstr>Big data example: Sep 2019 – Jan 2020 wildfires in Australia</vt:lpstr>
      <vt:lpstr>Important links</vt:lpstr>
      <vt:lpstr>Gaining access to the jupyterhub</vt:lpstr>
      <vt:lpstr>Learning goals</vt:lpstr>
      <vt:lpstr>Grading</vt:lpstr>
      <vt:lpstr>A note on LLMs </vt:lpstr>
      <vt:lpstr>Assignments</vt:lpstr>
      <vt:lpstr>Final project</vt:lpstr>
      <vt:lpstr>Bring your laptop to class</vt:lpstr>
      <vt:lpstr>Assignment 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pollution data is sparse in sub-Saharan Africa</dc:title>
  <dc:creator>Dan Westervelt</dc:creator>
  <cp:lastModifiedBy>danielmw@ldeo.columbia.edu</cp:lastModifiedBy>
  <cp:revision>292</cp:revision>
  <cp:lastPrinted>2023-01-13T19:49:53Z</cp:lastPrinted>
  <dcterms:created xsi:type="dcterms:W3CDTF">2020-09-02T00:44:20Z</dcterms:created>
  <dcterms:modified xsi:type="dcterms:W3CDTF">2026-01-06T21:34:44Z</dcterms:modified>
</cp:coreProperties>
</file>